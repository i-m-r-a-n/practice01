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image" Target="../media/image12.jpg"/><Relationship Id="rId5" Type="http://schemas.openxmlformats.org/officeDocument/2006/relationships/image" Target="../media/image13.jpg"/><Relationship Id="rId6" Type="http://schemas.openxmlformats.org/officeDocument/2006/relationships/image" Target="../media/image14.jpg"/><Relationship Id="rId7" Type="http://schemas.openxmlformats.org/officeDocument/2006/relationships/image" Target="../media/image6.jpg"/><Relationship Id="rId8" Type="http://schemas.openxmlformats.org/officeDocument/2006/relationships/image" Target="../media/image1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6.jpg"/><Relationship Id="rId4" Type="http://schemas.openxmlformats.org/officeDocument/2006/relationships/image" Target="../media/image11.jpg"/><Relationship Id="rId5" Type="http://schemas.openxmlformats.org/officeDocument/2006/relationships/image" Target="../media/image13.jpg"/><Relationship Id="rId6" Type="http://schemas.openxmlformats.org/officeDocument/2006/relationships/image" Target="../media/image1.jpg"/><Relationship Id="rId7" Type="http://schemas.openxmlformats.org/officeDocument/2006/relationships/image" Target="../media/image17.jpg"/><Relationship Id="rId8" Type="http://schemas.openxmlformats.org/officeDocument/2006/relationships/image" Target="../media/image1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0.jpg"/><Relationship Id="rId4" Type="http://schemas.openxmlformats.org/officeDocument/2006/relationships/image" Target="../media/image21.jpg"/><Relationship Id="rId5" Type="http://schemas.openxmlformats.org/officeDocument/2006/relationships/image" Target="../media/image22.jpg"/><Relationship Id="rId6" Type="http://schemas.openxmlformats.org/officeDocument/2006/relationships/image" Target="../media/image23.jpg"/><Relationship Id="rId7" Type="http://schemas.openxmlformats.org/officeDocument/2006/relationships/image" Target="../media/image24.jpg"/><Relationship Id="rId8" Type="http://schemas.openxmlformats.org/officeDocument/2006/relationships/image" Target="../media/image2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0.jpg"/><Relationship Id="rId4" Type="http://schemas.openxmlformats.org/officeDocument/2006/relationships/image" Target="../media/image26.jpg"/><Relationship Id="rId5" Type="http://schemas.openxmlformats.org/officeDocument/2006/relationships/image" Target="../media/image11.jpg"/><Relationship Id="rId6" Type="http://schemas.openxmlformats.org/officeDocument/2006/relationships/image" Target="../media/image27.jpg"/><Relationship Id="rId7" Type="http://schemas.openxmlformats.org/officeDocument/2006/relationships/image" Target="../media/image2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image" Target="../media/image26.jpg"/><Relationship Id="rId4" Type="http://schemas.openxmlformats.org/officeDocument/2006/relationships/image" Target="../media/image30.jpg"/><Relationship Id="rId5" Type="http://schemas.openxmlformats.org/officeDocument/2006/relationships/image" Target="../media/image31.jpg"/><Relationship Id="rId6" Type="http://schemas.openxmlformats.org/officeDocument/2006/relationships/image" Target="../media/image32.jpg"/><Relationship Id="rId7" Type="http://schemas.openxmlformats.org/officeDocument/2006/relationships/image" Target="../media/image33.jpg"/><Relationship Id="rId8" Type="http://schemas.openxmlformats.org/officeDocument/2006/relationships/image" Target="../media/image3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image" Target="../media/image30.jpg"/><Relationship Id="rId4" Type="http://schemas.openxmlformats.org/officeDocument/2006/relationships/image" Target="../media/image20.jpg"/><Relationship Id="rId5" Type="http://schemas.openxmlformats.org/officeDocument/2006/relationships/image" Target="../media/image31.jpg"/><Relationship Id="rId6" Type="http://schemas.openxmlformats.org/officeDocument/2006/relationships/image" Target="../media/image36.jpg"/><Relationship Id="rId7" Type="http://schemas.openxmlformats.org/officeDocument/2006/relationships/image" Target="../media/image37.jpg"/><Relationship Id="rId8" Type="http://schemas.openxmlformats.org/officeDocument/2006/relationships/image" Target="../media/image38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40.jpg"/><Relationship Id="rId4" Type="http://schemas.openxmlformats.org/officeDocument/2006/relationships/image" Target="../media/image41.jpg"/><Relationship Id="rId5" Type="http://schemas.openxmlformats.org/officeDocument/2006/relationships/image" Target="../media/image42.jpg"/><Relationship Id="rId6" Type="http://schemas.openxmlformats.org/officeDocument/2006/relationships/image" Target="../media/image43.jpg"/><Relationship Id="rId7" Type="http://schemas.openxmlformats.org/officeDocument/2006/relationships/image" Target="../media/image44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27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M_04_Experience_Centre_A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500" y="6642100"/>
            <a:ext cx="1206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Experience centre - Blender Cycles render of the project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604000" cy="6858000"/>
          </a:xfrm>
          <a:prstGeom prst="rect">
            <a:avLst/>
          </a:prstGeom>
          <a:solidFill>
            <a:srgbClr val="142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81000" y="381000"/>
            <a:ext cx="5715000" cy="698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zara_fashion_pro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495300"/>
            <a:ext cx="1587500" cy="458247"/>
          </a:xfrm>
          <a:prstGeom prst="rect">
            <a:avLst/>
          </a:prstGeom>
        </p:spPr>
      </p:pic>
      <p:pic>
        <p:nvPicPr>
          <p:cNvPr id="7" name="Picture 6" descr="logo_stage2_lt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9500" y="495300"/>
            <a:ext cx="1587500" cy="445144"/>
          </a:xfrm>
          <a:prstGeom prst="rect">
            <a:avLst/>
          </a:prstGeom>
        </p:spPr>
      </p:pic>
      <p:pic>
        <p:nvPicPr>
          <p:cNvPr id="8" name="Picture 7" descr="logo_stage2_unit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1000" y="495300"/>
            <a:ext cx="1587500" cy="44561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8000" y="1905000"/>
            <a:ext cx="5715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9FD3B0"/>
                </a:solidFill>
                <a:latin typeface="Inter"/>
              </a:rPr>
              <a:t>INTERIOR DESIGN PROPOSAL  |  GROUND FLOOR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2222500"/>
            <a:ext cx="5715000" cy="266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Inter"/>
              </a:rPr>
              <a:t>Premium International Fashion Corporate Headquarters &amp; Design Development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" y="5016500"/>
            <a:ext cx="571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D9E2DC"/>
                </a:solidFill>
                <a:latin typeface="Inter"/>
              </a:rPr>
              <a:t>Stage II Knitting Apparel Ltd.  ·  Stage II Knitting Apparel Unit-1  ·  Zara Fashion</a:t>
            </a:r>
          </a:p>
          <a:p>
            <a:r>
              <a:rPr sz="1500" b="0">
                <a:solidFill>
                  <a:srgbClr val="D9E2DC"/>
                </a:solidFill>
                <a:latin typeface="Inter"/>
              </a:rPr>
              <a:t>Holding 329/2, Ward 15, Vogra, Bason, Gazipur</a:t>
            </a:r>
          </a:p>
        </p:txBody>
      </p:sp>
      <p:pic>
        <p:nvPicPr>
          <p:cNvPr id="12" name="Picture 11" descr="tagline_quality_compliance_commitmen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000" y="5905500"/>
            <a:ext cx="3937000" cy="2352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01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609600"/>
            <a:ext cx="3683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6673D"/>
                </a:solidFill>
                <a:latin typeface="Inter"/>
              </a:rPr>
              <a:t>PROJECT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863600"/>
            <a:ext cx="36830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E1E1C"/>
                </a:solidFill>
                <a:latin typeface="Inter"/>
              </a:rPr>
              <a:t>One floor that tells the story from yarn to buyer-ready collection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2540000"/>
            <a:ext cx="3683000" cy="393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The face of the company: a calm, premium headquarters where buyers meet the brand, management works in comfort and the design team turns trends into products - with no production on this floor.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/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Visitor journey: lobby - reception - experience centre - boardroom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Executive suite and administration beside the visitor zone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Design wing, staff cafe, lounge / training and prayer rooms behind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5016500"/>
            <a:ext cx="1778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6673D"/>
                </a:solidFill>
                <a:latin typeface="Inter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5334000"/>
            <a:ext cx="1778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A5750"/>
                </a:solidFill>
                <a:latin typeface="Inter"/>
              </a:rPr>
              <a:t>rooms and zones designed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49500" y="5016500"/>
            <a:ext cx="1778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6673D"/>
                </a:solidFill>
                <a:latin typeface="Inter"/>
              </a:rPr>
              <a:t>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49500" y="5334000"/>
            <a:ext cx="1778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A5750"/>
                </a:solidFill>
                <a:latin typeface="Inter"/>
              </a:rPr>
              <a:t>work seats incl. growth and guests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5715000"/>
            <a:ext cx="1778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6673D"/>
                </a:solidFill>
                <a:latin typeface="Inter"/>
              </a:rPr>
              <a:t>707 sft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6032500"/>
            <a:ext cx="1778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A5750"/>
                </a:solidFill>
                <a:latin typeface="Inter"/>
              </a:rPr>
              <a:t>experience centre at the heart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9500" y="5715000"/>
            <a:ext cx="1778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6673D"/>
                </a:solidFill>
                <a:latin typeface="Inter"/>
              </a:rPr>
              <a:t>75 / 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49500" y="6032500"/>
            <a:ext cx="1778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A5750"/>
                </a:solidFill>
                <a:latin typeface="Inter"/>
              </a:rPr>
              <a:t>survey dimension checks passed</a:t>
            </a:r>
          </a:p>
        </p:txBody>
      </p:sp>
      <p:pic>
        <p:nvPicPr>
          <p:cNvPr id="13" name="Picture 12" descr="CAM_02_Reception_B.jpg"/>
          <p:cNvPicPr>
            <a:picLocks noChangeAspect="1"/>
          </p:cNvPicPr>
          <p:nvPr/>
        </p:nvPicPr>
        <p:blipFill>
          <a:blip r:embed="rId2"/>
          <a:srcRect l="14216" r="14216"/>
          <a:stretch>
            <a:fillRect/>
          </a:stretch>
        </p:blipFill>
        <p:spPr>
          <a:xfrm>
            <a:off x="4445000" y="660400"/>
            <a:ext cx="7239000" cy="56896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08500" y="6134100"/>
            <a:ext cx="711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Reception and visitor waiting (preview render)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02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609600"/>
            <a:ext cx="9525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6673D"/>
                </a:solidFill>
                <a:latin typeface="Inter"/>
              </a:rPr>
              <a:t>DESIGN PHILOSOPHY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863600"/>
            <a:ext cx="952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1E1C"/>
                </a:solidFill>
                <a:latin typeface="Inter"/>
              </a:rPr>
              <a:t>Six principles behind every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2032000"/>
            <a:ext cx="3556000" cy="1714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0400" y="2171700"/>
            <a:ext cx="32385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6673D"/>
                </a:solidFill>
                <a:latin typeface="Inter"/>
              </a:rPr>
              <a:t>01   Modernity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400" y="2578100"/>
            <a:ext cx="3238500" cy="107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Clean planes, slim black-aluminium glass, an exposed and painted structure - an honest contemporary shell.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18000" y="2032000"/>
            <a:ext cx="3556000" cy="1714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0400" y="2171700"/>
            <a:ext cx="32385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6673D"/>
                </a:solidFill>
                <a:latin typeface="Inter"/>
              </a:rPr>
              <a:t>02   Functionality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0400" y="2578100"/>
            <a:ext cx="3238500" cy="107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Clear zoning: visitors, executives, administration, design development and staff support each have their place.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8000" y="2032000"/>
            <a:ext cx="3556000" cy="1714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80400" y="2171700"/>
            <a:ext cx="32385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6673D"/>
                </a:solidFill>
                <a:latin typeface="Inter"/>
              </a:rPr>
              <a:t>03   Collaboration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0400" y="2578100"/>
            <a:ext cx="3238500" cy="107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Team tables, a buyer presentation table, a sample-review counter and glass views between departments.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8000" y="3937000"/>
            <a:ext cx="3556000" cy="1714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400" y="4076700"/>
            <a:ext cx="32385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6673D"/>
                </a:solidFill>
                <a:latin typeface="Inter"/>
              </a:rPr>
              <a:t>04   Creativity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400" y="4483100"/>
            <a:ext cx="3238500" cy="107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Mood-board wall, fabric &amp; trim library, 3D printing lab and display bays keep products and ideas visible.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8000" y="3937000"/>
            <a:ext cx="3556000" cy="1714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0400" y="4076700"/>
            <a:ext cx="32385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6673D"/>
                </a:solidFill>
                <a:latin typeface="Inter"/>
              </a:rPr>
              <a:t>05   Employee comfort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0400" y="4483100"/>
            <a:ext cx="3238500" cy="107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Ergonomic 1400 mm desks, acoustic felt, 4000 K task light, staff cafe, lounge and prayer rooms.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8000" y="3937000"/>
            <a:ext cx="3556000" cy="1714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0400" y="4076700"/>
            <a:ext cx="32385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6673D"/>
                </a:solidFill>
                <a:latin typeface="Inter"/>
              </a:rPr>
              <a:t>06   Professional image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0400" y="4483100"/>
            <a:ext cx="3238500" cy="107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The client's own logos and green, terrazzo, oak and walnut: a confident international brand presence.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03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D-01_furnished_plan.png"/>
          <p:cNvPicPr>
            <a:picLocks noChangeAspect="1"/>
          </p:cNvPicPr>
          <p:nvPr/>
        </p:nvPicPr>
        <p:blipFill>
          <a:blip r:embed="rId2"/>
          <a:srcRect t="36" b="36"/>
          <a:stretch>
            <a:fillRect/>
          </a:stretch>
        </p:blipFill>
        <p:spPr>
          <a:xfrm>
            <a:off x="508000" y="355600"/>
            <a:ext cx="4318000" cy="61087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70500" y="609600"/>
            <a:ext cx="64135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6673D"/>
                </a:solidFill>
                <a:latin typeface="Inter"/>
              </a:rPr>
              <a:t>FLOOR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70500" y="863600"/>
            <a:ext cx="6413500" cy="82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E1E1C"/>
                </a:solidFill>
                <a:latin typeface="Inter"/>
              </a:rPr>
              <a:t>Furnished ground-floor layout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70500" y="1841500"/>
            <a:ext cx="6413500" cy="698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Overall 92'-4" front x 96'-6" (west) / 151'-3" (east) outside dimensions, from the client's hand-measured sketches. Fit-out zones total about 11,092 sft net.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270500" y="2603500"/>
          <a:ext cx="64135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7833"/>
                <a:gridCol w="2137833"/>
                <a:gridCol w="2137834"/>
              </a:tblGrid>
              <a:tr h="2921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673D"/>
                          </a:solidFill>
                          <a:latin typeface="Inter"/>
                        </a:rPr>
                        <a:t>Key dimension</a:t>
                      </a:r>
                    </a:p>
                  </a:txBody>
                  <a:tcPr>
                    <a:solidFill>
                      <a:srgbClr val="EEEA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673D"/>
                          </a:solidFill>
                          <a:latin typeface="Inter"/>
                        </a:rPr>
                        <a:t>Value</a:t>
                      </a:r>
                    </a:p>
                  </a:txBody>
                  <a:tcPr>
                    <a:solidFill>
                      <a:srgbClr val="EEEA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673D"/>
                          </a:solidFill>
                          <a:latin typeface="Inter"/>
                        </a:rPr>
                        <a:t>Status</a:t>
                      </a:r>
                    </a:p>
                  </a:txBody>
                  <a:tcPr>
                    <a:solidFill>
                      <a:srgbClr val="EEEAE2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Rooms 1 / 3 / 4 widths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25'-0" / 21'-8" / 43'-2"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measured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Middle block depth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73'-5"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derived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Rooms 5 + 6 width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41'-7"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measured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Room 8 length / width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128'-2" / 37'-6"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measured / assumed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Floor to deck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9'-6"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photo estimate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270500" y="5969000"/>
            <a:ext cx="6413500" cy="44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A5750"/>
                </a:solidFill>
                <a:latin typeface="Inter"/>
              </a:rPr>
              <a:t>Drawing set (A3): ID-01 furnished plan, ID-02 zoning, ID-03 ceiling + lighting, ID-04 power, data + fire. Geometry check: 75 of 75 model measurements match the survey values.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04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D-02_zoning_plan.png"/>
          <p:cNvPicPr>
            <a:picLocks noChangeAspect="1"/>
          </p:cNvPicPr>
          <p:nvPr/>
        </p:nvPicPr>
        <p:blipFill>
          <a:blip r:embed="rId2"/>
          <a:srcRect t="36" b="36"/>
          <a:stretch>
            <a:fillRect/>
          </a:stretch>
        </p:blipFill>
        <p:spPr>
          <a:xfrm>
            <a:off x="508000" y="355600"/>
            <a:ext cx="4318000" cy="61087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70500" y="609600"/>
            <a:ext cx="64135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6673D"/>
                </a:solidFill>
                <a:latin typeface="Inter"/>
              </a:rPr>
              <a:t>SPACE ZONING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70500" y="863600"/>
            <a:ext cx="6413500" cy="82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E1E1C"/>
                </a:solidFill>
                <a:latin typeface="Inter"/>
              </a:rPr>
              <a:t>Visitors in front, work in the middle, creation and care at the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70500" y="1841500"/>
            <a:ext cx="6413500" cy="698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Red route: visitors. Green route: staff. Brown: executive link to the boardroom. Visitors never pass through the offices.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270500" y="2603500"/>
          <a:ext cx="6413500" cy="292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7833"/>
                <a:gridCol w="2137833"/>
                <a:gridCol w="2137834"/>
              </a:tblGrid>
              <a:tr h="2921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673D"/>
                          </a:solidFill>
                          <a:latin typeface="Inter"/>
                        </a:rPr>
                        <a:t>Zone</a:t>
                      </a:r>
                    </a:p>
                  </a:txBody>
                  <a:tcPr>
                    <a:solidFill>
                      <a:srgbClr val="EEEA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673D"/>
                          </a:solidFill>
                          <a:latin typeface="Inter"/>
                        </a:rPr>
                        <a:t>Net area</a:t>
                      </a:r>
                    </a:p>
                  </a:txBody>
                  <a:tcPr>
                    <a:solidFill>
                      <a:srgbClr val="EEEAE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EEAE2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Visitor &amp; reception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1,036 sft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Experience centre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707 sft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Meeting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693 sft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Executive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873 sft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Administration &amp; workspaces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3,265 sft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Design &amp; development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1,997 sft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Staff support &amp; circulation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1,704 sft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Prayer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375 sft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Washrooms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444 sft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05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M_ISO_SE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500" y="6642100"/>
            <a:ext cx="1206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Overall isometric cut-away of the furnished floor - Blender Cycles render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317500" y="317500"/>
            <a:ext cx="4572000" cy="2095500"/>
          </a:xfrm>
          <a:prstGeom prst="rect">
            <a:avLst/>
          </a:prstGeom>
          <a:solidFill>
            <a:srgbClr val="F6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482600"/>
            <a:ext cx="4191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6673D"/>
                </a:solidFill>
                <a:latin typeface="Inter"/>
              </a:rPr>
              <a:t>OVERALL 3D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762000"/>
            <a:ext cx="4191000" cy="82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E1E1C"/>
                </a:solidFill>
                <a:latin typeface="Inter"/>
              </a:rPr>
              <a:t>The complete ground floor, furnished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1651000"/>
            <a:ext cx="4191000" cy="698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A5750"/>
                </a:solidFill>
                <a:latin typeface="Inter"/>
              </a:rPr>
              <a:t>Editable Blender model: every wall, partition, door, light and piece of furniture is a separate named object in named collections.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06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609600"/>
            <a:ext cx="3683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6673D"/>
                </a:solidFill>
                <a:latin typeface="Inter"/>
              </a:rPr>
              <a:t>RECEPTION &amp; ENTRANCE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863600"/>
            <a:ext cx="36830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E1E1C"/>
                </a:solidFill>
                <a:latin typeface="Inter"/>
              </a:rPr>
              <a:t>A calm, branded welcome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2540000"/>
            <a:ext cx="3683000" cy="234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Guests step down from the gate into a terrazzo lobby with a security desk and the group's three logos on an oak brand wall, then into a warm reception.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/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Fluted white-oak counter, terrazzo ledge, accessible 760 mm section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Backlit logo plate on a fluted oak wall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Waiting lounge under an oak slat raft and a brass halo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Glass between lobby and reception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5016500"/>
            <a:ext cx="368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KEY FINISHES</a:t>
            </a:r>
          </a:p>
        </p:txBody>
      </p:sp>
      <p:pic>
        <p:nvPicPr>
          <p:cNvPr id="6" name="Picture 5" descr="swatch_TZ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5245100"/>
            <a:ext cx="793750" cy="66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9900" y="5930900"/>
            <a:ext cx="88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TZ-01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9900" y="6096000"/>
            <a:ext cx="889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Terrazzo floor</a:t>
            </a:r>
          </a:p>
        </p:txBody>
      </p:sp>
      <p:pic>
        <p:nvPicPr>
          <p:cNvPr id="9" name="Picture 8" descr="swatch_WO-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750" y="5245100"/>
            <a:ext cx="793750" cy="66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90650" y="5930900"/>
            <a:ext cx="88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WO-01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0650" y="6096000"/>
            <a:ext cx="889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White-oak slats</a:t>
            </a:r>
          </a:p>
        </p:txBody>
      </p:sp>
      <p:pic>
        <p:nvPicPr>
          <p:cNvPr id="12" name="Picture 11" descr="swatch_SS-0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9500" y="5245100"/>
            <a:ext cx="793750" cy="660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311400" y="5930900"/>
            <a:ext cx="88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SS-01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11400" y="6096000"/>
            <a:ext cx="889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Quartz / terrazzo top</a:t>
            </a:r>
          </a:p>
        </p:txBody>
      </p:sp>
      <p:pic>
        <p:nvPicPr>
          <p:cNvPr id="15" name="Picture 14" descr="swatch_MT-0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0250" y="5245100"/>
            <a:ext cx="793750" cy="660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232150" y="5930900"/>
            <a:ext cx="88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MT-02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32150" y="6096000"/>
            <a:ext cx="889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Brushed brass</a:t>
            </a:r>
          </a:p>
        </p:txBody>
      </p:sp>
      <p:pic>
        <p:nvPicPr>
          <p:cNvPr id="18" name="Picture 17" descr="CAM_01_Reception_A.jpg"/>
          <p:cNvPicPr>
            <a:picLocks noChangeAspect="1"/>
          </p:cNvPicPr>
          <p:nvPr/>
        </p:nvPicPr>
        <p:blipFill>
          <a:blip r:embed="rId6"/>
          <a:srcRect t="6335" b="6335"/>
          <a:stretch>
            <a:fillRect/>
          </a:stretch>
        </p:blipFill>
        <p:spPr>
          <a:xfrm>
            <a:off x="4445000" y="660400"/>
            <a:ext cx="7239000" cy="3556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08500" y="4000500"/>
            <a:ext cx="711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Reception</a:t>
            </a:r>
          </a:p>
        </p:txBody>
      </p:sp>
      <p:pic>
        <p:nvPicPr>
          <p:cNvPr id="20" name="Picture 19" descr="CAM_02_Reception_B.jpg"/>
          <p:cNvPicPr>
            <a:picLocks noChangeAspect="1"/>
          </p:cNvPicPr>
          <p:nvPr/>
        </p:nvPicPr>
        <p:blipFill>
          <a:blip r:embed="rId7"/>
          <a:srcRect l="605" r="605"/>
          <a:stretch>
            <a:fillRect/>
          </a:stretch>
        </p:blipFill>
        <p:spPr>
          <a:xfrm>
            <a:off x="4445000" y="4318000"/>
            <a:ext cx="3568700" cy="2032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08500" y="6134100"/>
            <a:ext cx="34417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Reception - waiting (preview render)</a:t>
            </a:r>
          </a:p>
        </p:txBody>
      </p:sp>
      <p:pic>
        <p:nvPicPr>
          <p:cNvPr id="22" name="Picture 21" descr="CAM_03_Entrance_Lobby.jpg"/>
          <p:cNvPicPr>
            <a:picLocks noChangeAspect="1"/>
          </p:cNvPicPr>
          <p:nvPr/>
        </p:nvPicPr>
        <p:blipFill>
          <a:blip r:embed="rId8"/>
          <a:srcRect l="605" r="605"/>
          <a:stretch>
            <a:fillRect/>
          </a:stretch>
        </p:blipFill>
        <p:spPr>
          <a:xfrm>
            <a:off x="8115300" y="4318000"/>
            <a:ext cx="3568700" cy="2032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178800" y="6134100"/>
            <a:ext cx="34417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Entrance lobby - brand wall (preview render)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07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609600"/>
            <a:ext cx="3683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6673D"/>
                </a:solidFill>
                <a:latin typeface="Inter"/>
              </a:rPr>
              <a:t>EXPERIENCE CENTRE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863600"/>
            <a:ext cx="36830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E1E1C"/>
                </a:solidFill>
                <a:latin typeface="Inter"/>
              </a:rPr>
              <a:t>Where buyers meet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2540000"/>
            <a:ext cx="3683000" cy="234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At the centre of the floor, between reception and boardroom, the experience centre tells the company story and shows the collection.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/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Brand-story wall with the client's logos and tagline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Four garment bays: deep green backs, brass rails, LED shelves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Mannequin plinth and 'yarn to garment' touch table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Track lights fixed to the existing beams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Glass views into boardroom and fabric library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5016500"/>
            <a:ext cx="368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KEY FINISHES</a:t>
            </a:r>
          </a:p>
        </p:txBody>
      </p:sp>
      <p:pic>
        <p:nvPicPr>
          <p:cNvPr id="6" name="Picture 5" descr="swatch_TZ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5245100"/>
            <a:ext cx="793750" cy="66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9900" y="5930900"/>
            <a:ext cx="88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TZ-01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9900" y="6096000"/>
            <a:ext cx="889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Terrazzo floor</a:t>
            </a:r>
          </a:p>
        </p:txBody>
      </p:sp>
      <p:pic>
        <p:nvPicPr>
          <p:cNvPr id="9" name="Picture 8" descr="swatch_PA-0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750" y="5245100"/>
            <a:ext cx="793750" cy="66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90650" y="5930900"/>
            <a:ext cx="88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PA-02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0650" y="6096000"/>
            <a:ext cx="889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Brand green</a:t>
            </a:r>
          </a:p>
        </p:txBody>
      </p:sp>
      <p:pic>
        <p:nvPicPr>
          <p:cNvPr id="12" name="Picture 11" descr="swatch_WO-0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9500" y="5245100"/>
            <a:ext cx="793750" cy="660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311400" y="5930900"/>
            <a:ext cx="88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WO-01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11400" y="6096000"/>
            <a:ext cx="889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White-oak slats</a:t>
            </a:r>
          </a:p>
        </p:txBody>
      </p:sp>
      <p:pic>
        <p:nvPicPr>
          <p:cNvPr id="15" name="Picture 14" descr="swatch_MT-0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0250" y="5245100"/>
            <a:ext cx="793750" cy="660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232150" y="5930900"/>
            <a:ext cx="88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MT-02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32150" y="6096000"/>
            <a:ext cx="889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Brushed brass</a:t>
            </a:r>
          </a:p>
        </p:txBody>
      </p:sp>
      <p:pic>
        <p:nvPicPr>
          <p:cNvPr id="18" name="Picture 17" descr="CAM_04_Experience_Centre_A.jpg"/>
          <p:cNvPicPr>
            <a:picLocks noChangeAspect="1"/>
          </p:cNvPicPr>
          <p:nvPr/>
        </p:nvPicPr>
        <p:blipFill>
          <a:blip r:embed="rId6"/>
          <a:srcRect t="6335" b="6335"/>
          <a:stretch>
            <a:fillRect/>
          </a:stretch>
        </p:blipFill>
        <p:spPr>
          <a:xfrm>
            <a:off x="4445000" y="660400"/>
            <a:ext cx="7239000" cy="3556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08500" y="4000500"/>
            <a:ext cx="711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Experience centre</a:t>
            </a:r>
          </a:p>
        </p:txBody>
      </p:sp>
      <p:pic>
        <p:nvPicPr>
          <p:cNvPr id="20" name="Picture 19" descr="CAM_05_Experience_Centre_B.jpg"/>
          <p:cNvPicPr>
            <a:picLocks noChangeAspect="1"/>
          </p:cNvPicPr>
          <p:nvPr/>
        </p:nvPicPr>
        <p:blipFill>
          <a:blip r:embed="rId7"/>
          <a:srcRect l="605" r="605"/>
          <a:stretch>
            <a:fillRect/>
          </a:stretch>
        </p:blipFill>
        <p:spPr>
          <a:xfrm>
            <a:off x="4445000" y="4318000"/>
            <a:ext cx="3568700" cy="2032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08500" y="6134100"/>
            <a:ext cx="34417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Experience centre - story wall (preview render)</a:t>
            </a:r>
          </a:p>
        </p:txBody>
      </p:sp>
      <p:pic>
        <p:nvPicPr>
          <p:cNvPr id="22" name="Picture 21" descr="CAM_06_Experience_Centre_Detail.jpg"/>
          <p:cNvPicPr>
            <a:picLocks noChangeAspect="1"/>
          </p:cNvPicPr>
          <p:nvPr/>
        </p:nvPicPr>
        <p:blipFill>
          <a:blip r:embed="rId8"/>
          <a:srcRect l="605" r="605"/>
          <a:stretch>
            <a:fillRect/>
          </a:stretch>
        </p:blipFill>
        <p:spPr>
          <a:xfrm>
            <a:off x="8115300" y="4318000"/>
            <a:ext cx="3568700" cy="2032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178800" y="6134100"/>
            <a:ext cx="34417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Display detail (preview render)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08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609600"/>
            <a:ext cx="3683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6673D"/>
                </a:solidFill>
                <a:latin typeface="Inter"/>
              </a:rPr>
              <a:t>EXECUTIVE OFFICE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863600"/>
            <a:ext cx="36830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E1E1C"/>
                </a:solidFill>
                <a:latin typeface="Inter"/>
              </a:rPr>
              <a:t>Managing Director's office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2540000"/>
            <a:ext cx="3683000" cy="234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A quiet, warm executive suite next to the reception, reached through the PA and executive waiting area and a glass executive corridor.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/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- 2.1 m smoked-walnut desk, cognac leather chair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Walnut feature wall with the company logo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Lounge corner for informal meetings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Oak herringbone floor, oak slat raft and halo light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Direct link from the executive suite to the boardroom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5016500"/>
            <a:ext cx="368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KEY FINISHES</a:t>
            </a:r>
          </a:p>
        </p:txBody>
      </p:sp>
      <p:pic>
        <p:nvPicPr>
          <p:cNvPr id="6" name="Picture 5" descr="swatch_WD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5245100"/>
            <a:ext cx="793750" cy="66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9900" y="5930900"/>
            <a:ext cx="88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WD-01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9900" y="6096000"/>
            <a:ext cx="889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Oak herringbone</a:t>
            </a:r>
          </a:p>
        </p:txBody>
      </p:sp>
      <p:pic>
        <p:nvPicPr>
          <p:cNvPr id="9" name="Picture 8" descr="swatch_WO-0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750" y="5245100"/>
            <a:ext cx="793750" cy="66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90650" y="5930900"/>
            <a:ext cx="88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WO-02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0650" y="6096000"/>
            <a:ext cx="889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Smoked walnut</a:t>
            </a:r>
          </a:p>
        </p:txBody>
      </p:sp>
      <p:pic>
        <p:nvPicPr>
          <p:cNvPr id="12" name="Picture 11" descr="swatch_UP-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9500" y="5245100"/>
            <a:ext cx="793750" cy="660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311400" y="5930900"/>
            <a:ext cx="88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UP-02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11400" y="6096000"/>
            <a:ext cx="889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Cognac leather</a:t>
            </a:r>
          </a:p>
        </p:txBody>
      </p:sp>
      <p:pic>
        <p:nvPicPr>
          <p:cNvPr id="15" name="Picture 14" descr="swatch_UP-01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0250" y="5245100"/>
            <a:ext cx="793750" cy="660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232150" y="5930900"/>
            <a:ext cx="88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UP-01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32150" y="6096000"/>
            <a:ext cx="889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Sand fabric</a:t>
            </a:r>
          </a:p>
        </p:txBody>
      </p:sp>
      <p:pic>
        <p:nvPicPr>
          <p:cNvPr id="18" name="Picture 17" descr="CAM_07_MD_Office_A.jpg"/>
          <p:cNvPicPr>
            <a:picLocks noChangeAspect="1"/>
          </p:cNvPicPr>
          <p:nvPr/>
        </p:nvPicPr>
        <p:blipFill>
          <a:blip r:embed="rId6"/>
          <a:srcRect t="6335" b="6335"/>
          <a:stretch>
            <a:fillRect/>
          </a:stretch>
        </p:blipFill>
        <p:spPr>
          <a:xfrm>
            <a:off x="4445000" y="660400"/>
            <a:ext cx="7239000" cy="3556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08500" y="4000500"/>
            <a:ext cx="711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MD office</a:t>
            </a:r>
          </a:p>
        </p:txBody>
      </p:sp>
      <p:pic>
        <p:nvPicPr>
          <p:cNvPr id="20" name="Picture 19" descr="CAM_08_MD_Office_B.jpg"/>
          <p:cNvPicPr>
            <a:picLocks noChangeAspect="1"/>
          </p:cNvPicPr>
          <p:nvPr/>
        </p:nvPicPr>
        <p:blipFill>
          <a:blip r:embed="rId7"/>
          <a:srcRect l="605" r="605"/>
          <a:stretch>
            <a:fillRect/>
          </a:stretch>
        </p:blipFill>
        <p:spPr>
          <a:xfrm>
            <a:off x="4445000" y="4318000"/>
            <a:ext cx="3568700" cy="2032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08500" y="6134100"/>
            <a:ext cx="34417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MD office - lounge corner (preview render)</a:t>
            </a:r>
          </a:p>
        </p:txBody>
      </p:sp>
      <p:pic>
        <p:nvPicPr>
          <p:cNvPr id="22" name="Picture 21" descr="CAM_17_Executive_Reception.jpg"/>
          <p:cNvPicPr>
            <a:picLocks noChangeAspect="1"/>
          </p:cNvPicPr>
          <p:nvPr/>
        </p:nvPicPr>
        <p:blipFill>
          <a:blip r:embed="rId8"/>
          <a:srcRect l="605" r="605"/>
          <a:stretch>
            <a:fillRect/>
          </a:stretch>
        </p:blipFill>
        <p:spPr>
          <a:xfrm>
            <a:off x="8115300" y="4318000"/>
            <a:ext cx="3568700" cy="2032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178800" y="6134100"/>
            <a:ext cx="34417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Executive reception (PA) (preview render)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09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609600"/>
            <a:ext cx="3683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6673D"/>
                </a:solidFill>
                <a:latin typeface="Inter"/>
              </a:rPr>
              <a:t>BOARDROOM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863600"/>
            <a:ext cx="36830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E1E1C"/>
                </a:solidFill>
                <a:latin typeface="Inter"/>
              </a:rPr>
              <a:t>A boardroom for international buyers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2540000"/>
            <a:ext cx="3683000" cy="234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Fifteen seats around a 6.1 m walnut table, between the reception, the executive suite and the experience centre.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/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- 86 in screen on an oak slat media wall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Green felt acoustic rafts set between the existing beams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Walnut acoustic slat wall, herringbone oak floor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Power/data trough in the table; privacy curtains recommended on the glass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5016500"/>
            <a:ext cx="368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KEY FINISHES</a:t>
            </a:r>
          </a:p>
        </p:txBody>
      </p:sp>
      <p:pic>
        <p:nvPicPr>
          <p:cNvPr id="6" name="Picture 5" descr="swatch_WD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5245100"/>
            <a:ext cx="793750" cy="66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9900" y="5930900"/>
            <a:ext cx="88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WD-01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9900" y="6096000"/>
            <a:ext cx="889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Oak herringbone</a:t>
            </a:r>
          </a:p>
        </p:txBody>
      </p:sp>
      <p:pic>
        <p:nvPicPr>
          <p:cNvPr id="9" name="Picture 8" descr="swatch_WO-0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750" y="5245100"/>
            <a:ext cx="793750" cy="66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90650" y="5930900"/>
            <a:ext cx="88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WO-02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0650" y="6096000"/>
            <a:ext cx="889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Smoked walnut</a:t>
            </a:r>
          </a:p>
        </p:txBody>
      </p:sp>
      <p:pic>
        <p:nvPicPr>
          <p:cNvPr id="12" name="Picture 11" descr="swatch_AC-0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9500" y="5245100"/>
            <a:ext cx="793750" cy="660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311400" y="5930900"/>
            <a:ext cx="88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AC-01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11400" y="6096000"/>
            <a:ext cx="889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Acoustic felt</a:t>
            </a:r>
          </a:p>
        </p:txBody>
      </p:sp>
      <p:pic>
        <p:nvPicPr>
          <p:cNvPr id="15" name="Picture 14" descr="swatch_WO-0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0250" y="5245100"/>
            <a:ext cx="793750" cy="660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232150" y="5930900"/>
            <a:ext cx="88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WO-01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32150" y="6096000"/>
            <a:ext cx="889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White-oak slats</a:t>
            </a:r>
          </a:p>
        </p:txBody>
      </p:sp>
      <p:pic>
        <p:nvPicPr>
          <p:cNvPr id="18" name="Picture 17" descr="CAM_09_Boardroom_A.jpg"/>
          <p:cNvPicPr>
            <a:picLocks noChangeAspect="1"/>
          </p:cNvPicPr>
          <p:nvPr/>
        </p:nvPicPr>
        <p:blipFill>
          <a:blip r:embed="rId6"/>
          <a:srcRect t="15692" b="15692"/>
          <a:stretch>
            <a:fillRect/>
          </a:stretch>
        </p:blipFill>
        <p:spPr>
          <a:xfrm>
            <a:off x="4445000" y="660400"/>
            <a:ext cx="7239000" cy="2794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08500" y="3238500"/>
            <a:ext cx="711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Boardroom</a:t>
            </a:r>
          </a:p>
        </p:txBody>
      </p:sp>
      <p:pic>
        <p:nvPicPr>
          <p:cNvPr id="20" name="Picture 19" descr="CAM_10_Boardroom_B.jpg"/>
          <p:cNvPicPr>
            <a:picLocks noChangeAspect="1"/>
          </p:cNvPicPr>
          <p:nvPr/>
        </p:nvPicPr>
        <p:blipFill>
          <a:blip r:embed="rId7"/>
          <a:srcRect t="15692" b="15692"/>
          <a:stretch>
            <a:fillRect/>
          </a:stretch>
        </p:blipFill>
        <p:spPr>
          <a:xfrm>
            <a:off x="4445000" y="3556000"/>
            <a:ext cx="7239000" cy="2794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08500" y="6134100"/>
            <a:ext cx="711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Boardroom - towards the experience centre (preview render)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609600"/>
            <a:ext cx="3683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6673D"/>
                </a:solidFill>
                <a:latin typeface="Inter"/>
              </a:rPr>
              <a:t>MAIN OFFICE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863600"/>
            <a:ext cx="36830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E1E1C"/>
                </a:solidFill>
                <a:latin typeface="Inter"/>
              </a:rPr>
              <a:t>Workplaces that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2540000"/>
            <a:ext cx="3683000" cy="234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Merchandising, commercial &amp; accounts and HR &amp; admin share one desk family and one light and acoustic language.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/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- 48 dedicated workstations + 6 guest seats (about 50 % growth)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- 1400 x 700 mm bench desks, green felt screens, task chairs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Team table and sample-review counter for merchandisers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Felt baffles between the beams, 4000 K linear light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5016500"/>
            <a:ext cx="368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KEY FINISHES</a:t>
            </a:r>
          </a:p>
        </p:txBody>
      </p:sp>
      <p:pic>
        <p:nvPicPr>
          <p:cNvPr id="6" name="Picture 5" descr="swatch_CP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5245100"/>
            <a:ext cx="793750" cy="66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9900" y="5930900"/>
            <a:ext cx="88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CP-01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9900" y="6096000"/>
            <a:ext cx="889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Carpet tile</a:t>
            </a:r>
          </a:p>
        </p:txBody>
      </p:sp>
      <p:pic>
        <p:nvPicPr>
          <p:cNvPr id="9" name="Picture 8" descr="swatch_AC-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750" y="5245100"/>
            <a:ext cx="793750" cy="66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90650" y="5930900"/>
            <a:ext cx="88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AC-01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0650" y="6096000"/>
            <a:ext cx="889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Acoustic felt</a:t>
            </a:r>
          </a:p>
        </p:txBody>
      </p:sp>
      <p:pic>
        <p:nvPicPr>
          <p:cNvPr id="12" name="Picture 11" descr="swatch_UP-01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9500" y="5245100"/>
            <a:ext cx="793750" cy="660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311400" y="5930900"/>
            <a:ext cx="88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UP-01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11400" y="6096000"/>
            <a:ext cx="889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Green fabric</a:t>
            </a:r>
          </a:p>
        </p:txBody>
      </p:sp>
      <p:pic>
        <p:nvPicPr>
          <p:cNvPr id="15" name="Picture 14" descr="swatch_PA-0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0250" y="5245100"/>
            <a:ext cx="793750" cy="660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232150" y="5930900"/>
            <a:ext cx="88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PA-01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32150" y="6096000"/>
            <a:ext cx="889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Warm white paint</a:t>
            </a:r>
          </a:p>
        </p:txBody>
      </p:sp>
      <p:pic>
        <p:nvPicPr>
          <p:cNvPr id="18" name="Picture 17" descr="CAM_11_Merchandising_A.jpg"/>
          <p:cNvPicPr>
            <a:picLocks noChangeAspect="1"/>
          </p:cNvPicPr>
          <p:nvPr/>
        </p:nvPicPr>
        <p:blipFill>
          <a:blip r:embed="rId6"/>
          <a:srcRect t="6335" b="6335"/>
          <a:stretch>
            <a:fillRect/>
          </a:stretch>
        </p:blipFill>
        <p:spPr>
          <a:xfrm>
            <a:off x="4445000" y="660400"/>
            <a:ext cx="7239000" cy="3556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08500" y="4000500"/>
            <a:ext cx="711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Merchandising open office</a:t>
            </a:r>
          </a:p>
        </p:txBody>
      </p:sp>
      <p:pic>
        <p:nvPicPr>
          <p:cNvPr id="20" name="Picture 19" descr="CAM_12_Merchandising_B.jpg"/>
          <p:cNvPicPr>
            <a:picLocks noChangeAspect="1"/>
          </p:cNvPicPr>
          <p:nvPr/>
        </p:nvPicPr>
        <p:blipFill>
          <a:blip r:embed="rId7"/>
          <a:srcRect l="605" r="605"/>
          <a:stretch>
            <a:fillRect/>
          </a:stretch>
        </p:blipFill>
        <p:spPr>
          <a:xfrm>
            <a:off x="4445000" y="4318000"/>
            <a:ext cx="3568700" cy="2032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08500" y="6134100"/>
            <a:ext cx="34417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Merchandising - team table (preview render)</a:t>
            </a:r>
          </a:p>
        </p:txBody>
      </p:sp>
      <p:pic>
        <p:nvPicPr>
          <p:cNvPr id="22" name="Picture 21" descr="CAM_16_Commercial_Accounts.jpg"/>
          <p:cNvPicPr>
            <a:picLocks noChangeAspect="1"/>
          </p:cNvPicPr>
          <p:nvPr/>
        </p:nvPicPr>
        <p:blipFill>
          <a:blip r:embed="rId8"/>
          <a:srcRect l="605" r="605"/>
          <a:stretch>
            <a:fillRect/>
          </a:stretch>
        </p:blipFill>
        <p:spPr>
          <a:xfrm>
            <a:off x="8115300" y="4318000"/>
            <a:ext cx="3568700" cy="2032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178800" y="6134100"/>
            <a:ext cx="34417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Commercial &amp; accounts (preview render)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609600"/>
            <a:ext cx="3683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6673D"/>
                </a:solidFill>
                <a:latin typeface="Inter"/>
              </a:rPr>
              <a:t>DESIGN STUDIO &amp; CAD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863600"/>
            <a:ext cx="36830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E1E1C"/>
                </a:solidFill>
                <a:latin typeface="Inter"/>
              </a:rPr>
              <a:t>The Global Design Studio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2540000"/>
            <a:ext cx="3683000" cy="234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Zones from the master plan (about 1,400 sft): creative desks, trend wall, collection presentation, technical design, fabric library and storage.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/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Designer desks at the east windows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- 7.4 m mood-board wall for trend research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Buyer presentation table with 86 in screen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CAD room with plotter; fabric &amp; trim library with D65 booth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- 3D printing lab and sample room as office-grade support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5016500"/>
            <a:ext cx="368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KEY FINISHES</a:t>
            </a:r>
          </a:p>
        </p:txBody>
      </p:sp>
      <p:pic>
        <p:nvPicPr>
          <p:cNvPr id="6" name="Picture 5" descr="swatch_WD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5245100"/>
            <a:ext cx="793750" cy="66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9900" y="5930900"/>
            <a:ext cx="88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WD-02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9900" y="6096000"/>
            <a:ext cx="889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Oak-look plank</a:t>
            </a:r>
          </a:p>
        </p:txBody>
      </p:sp>
      <p:pic>
        <p:nvPicPr>
          <p:cNvPr id="9" name="Picture 8" descr="swatch_UP-01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750" y="5245100"/>
            <a:ext cx="793750" cy="66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90650" y="5930900"/>
            <a:ext cx="88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UP-01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0650" y="6096000"/>
            <a:ext cx="889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Green fabric</a:t>
            </a:r>
          </a:p>
        </p:txBody>
      </p:sp>
      <p:pic>
        <p:nvPicPr>
          <p:cNvPr id="12" name="Picture 11" descr="swatch_WO-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9500" y="5245100"/>
            <a:ext cx="793750" cy="660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311400" y="5930900"/>
            <a:ext cx="88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WO-02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11400" y="6096000"/>
            <a:ext cx="889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Smoked walnut</a:t>
            </a:r>
          </a:p>
        </p:txBody>
      </p:sp>
      <p:pic>
        <p:nvPicPr>
          <p:cNvPr id="15" name="Picture 14" descr="swatch_PA-0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0250" y="5245100"/>
            <a:ext cx="793750" cy="660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232150" y="5930900"/>
            <a:ext cx="88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PA-01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32150" y="6096000"/>
            <a:ext cx="889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Warm white paint</a:t>
            </a:r>
          </a:p>
        </p:txBody>
      </p:sp>
      <p:pic>
        <p:nvPicPr>
          <p:cNvPr id="18" name="Picture 17" descr="CAM_13_Design_Studio_A.jpg"/>
          <p:cNvPicPr>
            <a:picLocks noChangeAspect="1"/>
          </p:cNvPicPr>
          <p:nvPr/>
        </p:nvPicPr>
        <p:blipFill>
          <a:blip r:embed="rId6"/>
          <a:srcRect t="6335" b="6335"/>
          <a:stretch>
            <a:fillRect/>
          </a:stretch>
        </p:blipFill>
        <p:spPr>
          <a:xfrm>
            <a:off x="4445000" y="660400"/>
            <a:ext cx="7239000" cy="3556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08500" y="4000500"/>
            <a:ext cx="711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Global Design Studio (preview render)</a:t>
            </a:r>
          </a:p>
        </p:txBody>
      </p:sp>
      <p:pic>
        <p:nvPicPr>
          <p:cNvPr id="20" name="Picture 19" descr="CAM_14_Design_Studio_B.jpg"/>
          <p:cNvPicPr>
            <a:picLocks noChangeAspect="1"/>
          </p:cNvPicPr>
          <p:nvPr/>
        </p:nvPicPr>
        <p:blipFill>
          <a:blip r:embed="rId7"/>
          <a:srcRect l="605" r="605"/>
          <a:stretch>
            <a:fillRect/>
          </a:stretch>
        </p:blipFill>
        <p:spPr>
          <a:xfrm>
            <a:off x="4445000" y="4318000"/>
            <a:ext cx="3568700" cy="2032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08500" y="6134100"/>
            <a:ext cx="34417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Design studio - workstations + mood board (preview render)</a:t>
            </a:r>
          </a:p>
        </p:txBody>
      </p:sp>
      <p:pic>
        <p:nvPicPr>
          <p:cNvPr id="22" name="Picture 21" descr="CAM_15_CAD_Room.jpg"/>
          <p:cNvPicPr>
            <a:picLocks noChangeAspect="1"/>
          </p:cNvPicPr>
          <p:nvPr/>
        </p:nvPicPr>
        <p:blipFill>
          <a:blip r:embed="rId8"/>
          <a:srcRect l="605" r="605"/>
          <a:stretch>
            <a:fillRect/>
          </a:stretch>
        </p:blipFill>
        <p:spPr>
          <a:xfrm>
            <a:off x="8115300" y="4318000"/>
            <a:ext cx="3568700" cy="2032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178800" y="6134100"/>
            <a:ext cx="34417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CAD / technical design (preview render)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609600"/>
            <a:ext cx="9525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6673D"/>
                </a:solidFill>
                <a:latin typeface="Inter"/>
              </a:rPr>
              <a:t>SUPPORT SPACES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863600"/>
            <a:ext cx="1079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1E1C"/>
                </a:solidFill>
                <a:latin typeface="Inter"/>
              </a:rPr>
              <a:t>Care for the people who make the product</a:t>
            </a:r>
          </a:p>
        </p:txBody>
      </p:sp>
      <p:pic>
        <p:nvPicPr>
          <p:cNvPr id="4" name="Picture 3" descr="CAM_20_Staff_Cafe.jpg"/>
          <p:cNvPicPr>
            <a:picLocks noChangeAspect="1"/>
          </p:cNvPicPr>
          <p:nvPr/>
        </p:nvPicPr>
        <p:blipFill>
          <a:blip r:embed="rId2"/>
          <a:srcRect l="2878" r="2878"/>
          <a:stretch>
            <a:fillRect/>
          </a:stretch>
        </p:blipFill>
        <p:spPr>
          <a:xfrm>
            <a:off x="508000" y="1778000"/>
            <a:ext cx="3638550" cy="21717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1500" y="3733800"/>
            <a:ext cx="35115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Staff cafe + pantry (preview render)</a:t>
            </a:r>
          </a:p>
        </p:txBody>
      </p:sp>
      <p:pic>
        <p:nvPicPr>
          <p:cNvPr id="6" name="Picture 5" descr="CAM_21_Lounge_Training.jpg"/>
          <p:cNvPicPr>
            <a:picLocks noChangeAspect="1"/>
          </p:cNvPicPr>
          <p:nvPr/>
        </p:nvPicPr>
        <p:blipFill>
          <a:blip r:embed="rId3"/>
          <a:srcRect l="2878" r="2878"/>
          <a:stretch>
            <a:fillRect/>
          </a:stretch>
        </p:blipFill>
        <p:spPr>
          <a:xfrm>
            <a:off x="4273550" y="1778000"/>
            <a:ext cx="3638550" cy="21717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337050" y="3733800"/>
            <a:ext cx="35115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Lounge / training (multipurpose) (preview render)</a:t>
            </a:r>
          </a:p>
        </p:txBody>
      </p:sp>
      <p:pic>
        <p:nvPicPr>
          <p:cNvPr id="8" name="Picture 7" descr="CAM_22_Prayer_Male.jpg"/>
          <p:cNvPicPr>
            <a:picLocks noChangeAspect="1"/>
          </p:cNvPicPr>
          <p:nvPr/>
        </p:nvPicPr>
        <p:blipFill>
          <a:blip r:embed="rId4"/>
          <a:srcRect l="2878" r="2878"/>
          <a:stretch>
            <a:fillRect/>
          </a:stretch>
        </p:blipFill>
        <p:spPr>
          <a:xfrm>
            <a:off x="8039100" y="1778000"/>
            <a:ext cx="3638550" cy="21717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02600" y="3733800"/>
            <a:ext cx="35115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Prayer room (male) (preview render)</a:t>
            </a:r>
          </a:p>
        </p:txBody>
      </p:sp>
      <p:pic>
        <p:nvPicPr>
          <p:cNvPr id="10" name="Picture 9" descr="CAM_23_Sample_Room.jpg"/>
          <p:cNvPicPr>
            <a:picLocks noChangeAspect="1"/>
          </p:cNvPicPr>
          <p:nvPr/>
        </p:nvPicPr>
        <p:blipFill>
          <a:blip r:embed="rId5"/>
          <a:srcRect l="2878" r="2878"/>
          <a:stretch>
            <a:fillRect/>
          </a:stretch>
        </p:blipFill>
        <p:spPr>
          <a:xfrm>
            <a:off x="508000" y="4076700"/>
            <a:ext cx="3638550" cy="21717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1500" y="6032500"/>
            <a:ext cx="35115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Sample development (preview render)</a:t>
            </a:r>
          </a:p>
        </p:txBody>
      </p:sp>
      <p:pic>
        <p:nvPicPr>
          <p:cNvPr id="12" name="Picture 11" descr="CAM_25_Fabric_Library.jpg"/>
          <p:cNvPicPr>
            <a:picLocks noChangeAspect="1"/>
          </p:cNvPicPr>
          <p:nvPr/>
        </p:nvPicPr>
        <p:blipFill>
          <a:blip r:embed="rId6"/>
          <a:srcRect l="2878" r="2878"/>
          <a:stretch>
            <a:fillRect/>
          </a:stretch>
        </p:blipFill>
        <p:spPr>
          <a:xfrm>
            <a:off x="4273550" y="4076700"/>
            <a:ext cx="3638550" cy="21717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37050" y="6032500"/>
            <a:ext cx="35115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Fabric &amp; trim library (preview render)</a:t>
            </a:r>
          </a:p>
        </p:txBody>
      </p:sp>
      <p:pic>
        <p:nvPicPr>
          <p:cNvPr id="14" name="Picture 13" descr="CAM_28_Washroom_Male.jpg"/>
          <p:cNvPicPr>
            <a:picLocks noChangeAspect="1"/>
          </p:cNvPicPr>
          <p:nvPr/>
        </p:nvPicPr>
        <p:blipFill>
          <a:blip r:embed="rId7"/>
          <a:srcRect l="2878" r="2878"/>
          <a:stretch>
            <a:fillRect/>
          </a:stretch>
        </p:blipFill>
        <p:spPr>
          <a:xfrm>
            <a:off x="8039100" y="4076700"/>
            <a:ext cx="3638550" cy="21717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102600" y="6032500"/>
            <a:ext cx="35115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Staff washroom (preview render)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609600"/>
            <a:ext cx="4064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6673D"/>
                </a:solidFill>
                <a:latin typeface="Inter"/>
              </a:rPr>
              <a:t>MATERIALS &amp; FINISHES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863600"/>
            <a:ext cx="4064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1E1C"/>
                </a:solidFill>
                <a:latin typeface="Inter"/>
              </a:rPr>
              <a:t>A warm, durable palette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8000" y="1841500"/>
          <a:ext cx="4064000" cy="2628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6"/>
                <a:gridCol w="1354666"/>
                <a:gridCol w="1354668"/>
              </a:tblGrid>
              <a:tr h="2921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673D"/>
                          </a:solidFill>
                          <a:latin typeface="Inter"/>
                        </a:rPr>
                        <a:t>Code</a:t>
                      </a:r>
                    </a:p>
                  </a:txBody>
                  <a:tcPr>
                    <a:solidFill>
                      <a:srgbClr val="EEEA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673D"/>
                          </a:solidFill>
                          <a:latin typeface="Inter"/>
                        </a:rPr>
                        <a:t>Finish</a:t>
                      </a:r>
                    </a:p>
                  </a:txBody>
                  <a:tcPr>
                    <a:solidFill>
                      <a:srgbClr val="EEEA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673D"/>
                          </a:solidFill>
                          <a:latin typeface="Inter"/>
                        </a:rPr>
                        <a:t>Where</a:t>
                      </a:r>
                    </a:p>
                  </a:txBody>
                  <a:tcPr>
                    <a:solidFill>
                      <a:srgbClr val="EEEAE2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TZ-01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Terrazzo-look porcelain, warm beige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visitor floors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WD-01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Oak herringbone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boardroom, executive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CP-01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Charcoal carpet tile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offices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WO-01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White-oak slats on acoustic felt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feature walls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WO-02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Smoked walnut veneer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executive furniture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PA-02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Deep green from the logo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accents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GL-01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12 mm glass, black aluminium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partitions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MT-02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Brushed brass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details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8000" y="6032500"/>
            <a:ext cx="4064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A5750"/>
                </a:solidFill>
                <a:latin typeface="Inter"/>
              </a:rPr>
              <a:t>Specification concepts; final products by sample approval. Full schedule in 04_DOCUMENTATION.</a:t>
            </a:r>
          </a:p>
        </p:txBody>
      </p:sp>
      <p:pic>
        <p:nvPicPr>
          <p:cNvPr id="6" name="Picture 5" descr="material_board.jpg"/>
          <p:cNvPicPr>
            <a:picLocks noChangeAspect="1"/>
          </p:cNvPicPr>
          <p:nvPr/>
        </p:nvPicPr>
        <p:blipFill>
          <a:blip r:embed="rId2"/>
          <a:srcRect t="97" b="97"/>
          <a:stretch>
            <a:fillRect/>
          </a:stretch>
        </p:blipFill>
        <p:spPr>
          <a:xfrm>
            <a:off x="4826000" y="660400"/>
            <a:ext cx="6858000" cy="5689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89500" y="6134100"/>
            <a:ext cx="6731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Material board - the PBR materials of the model, rendered in Blender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D-03_ceiling_lighting_plan.png"/>
          <p:cNvPicPr>
            <a:picLocks noChangeAspect="1"/>
          </p:cNvPicPr>
          <p:nvPr/>
        </p:nvPicPr>
        <p:blipFill>
          <a:blip r:embed="rId2"/>
          <a:srcRect t="36" b="36"/>
          <a:stretch>
            <a:fillRect/>
          </a:stretch>
        </p:blipFill>
        <p:spPr>
          <a:xfrm>
            <a:off x="508000" y="355600"/>
            <a:ext cx="4318000" cy="61087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70500" y="609600"/>
            <a:ext cx="64135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6673D"/>
                </a:solidFill>
                <a:latin typeface="Inter"/>
              </a:rPr>
              <a:t>LIGHTING &amp; CEILING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70500" y="863600"/>
            <a:ext cx="6413500" cy="82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E1E1C"/>
                </a:solidFill>
                <a:latin typeface="Inter"/>
              </a:rPr>
              <a:t>The beams stay - and do the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70500" y="1841500"/>
            <a:ext cx="64135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- Existing steel deck and beams kept exposed, painted warm white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Experience centre: track lights fixed to the beams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Boardroom: green felt rafts between the beams; merchandising: felt baffles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Reception and MD office: oak slat rafts below beam level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- 4000 K direct/indirect light over desks; 3000-3500 K in visitor and executive areas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Accent spots on products and brand walls; halo pendants</a:t>
            </a:r>
          </a:p>
        </p:txBody>
      </p:sp>
      <p:pic>
        <p:nvPicPr>
          <p:cNvPr id="6" name="Picture 5" descr="CAM_09_Boardroom_A.jpg"/>
          <p:cNvPicPr>
            <a:picLocks noChangeAspect="1"/>
          </p:cNvPicPr>
          <p:nvPr/>
        </p:nvPicPr>
        <p:blipFill>
          <a:blip r:embed="rId3"/>
          <a:srcRect t="18317" b="18317"/>
          <a:stretch>
            <a:fillRect/>
          </a:stretch>
        </p:blipFill>
        <p:spPr>
          <a:xfrm>
            <a:off x="5270500" y="4064000"/>
            <a:ext cx="6413500" cy="228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34000" y="6134100"/>
            <a:ext cx="6286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Felt rafts between the beams - boardroom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609600"/>
            <a:ext cx="9525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6673D"/>
                </a:solidFill>
                <a:latin typeface="Inter"/>
              </a:rPr>
              <a:t>DESIGN BENEFITS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863600"/>
            <a:ext cx="952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1E1C"/>
                </a:solidFill>
                <a:latin typeface="Inter"/>
              </a:rPr>
              <a:t>What the company gains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2032000"/>
            <a:ext cx="3556000" cy="1714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0400" y="2171700"/>
            <a:ext cx="32385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6673D"/>
                </a:solidFill>
                <a:latin typeface="Inter"/>
              </a:rPr>
              <a:t>Operational efficiency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400" y="2578100"/>
            <a:ext cx="3238500" cy="107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Departments placed by workflow: merchandising beside the experience centre and sample room, HR at the staff entrance, the studio next to CAD, library and samples.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18000" y="2032000"/>
            <a:ext cx="3556000" cy="1714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0400" y="2171700"/>
            <a:ext cx="32385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6673D"/>
                </a:solidFill>
                <a:latin typeface="Inter"/>
              </a:rPr>
              <a:t>Professional image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0400" y="2578100"/>
            <a:ext cx="3238500" cy="107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A visitor sequence that presents the brand, the product and the management in one walk.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8000" y="2032000"/>
            <a:ext cx="3556000" cy="1714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80400" y="2171700"/>
            <a:ext cx="32385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6673D"/>
                </a:solidFill>
                <a:latin typeface="Inter"/>
              </a:rPr>
              <a:t>Employee comfort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0400" y="2578100"/>
            <a:ext cx="3238500" cy="107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Ergonomic desks, acoustic control, daylight in the studio, cafe, lounge and prayer rooms.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8000" y="3937000"/>
            <a:ext cx="3556000" cy="1714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400" y="4076700"/>
            <a:ext cx="32385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6673D"/>
                </a:solidFill>
                <a:latin typeface="Inter"/>
              </a:rPr>
              <a:t>Flexibility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400" y="4483100"/>
            <a:ext cx="3238500" cy="107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Bench desks, a multipurpose lounge / training room, glass partitions and about 50 % seat growth.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8000" y="3937000"/>
            <a:ext cx="3556000" cy="1714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0400" y="4076700"/>
            <a:ext cx="32385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6673D"/>
                </a:solidFill>
                <a:latin typeface="Inter"/>
              </a:rPr>
              <a:t>Maintainability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0400" y="4483100"/>
            <a:ext cx="3238500" cy="107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Hard-wearing terrazzo and porcelain, replaceable carpet tiles, exposed services that stay accessible.</a:t>
            </a:r>
          </a:p>
        </p:txBody>
      </p:sp>
      <p:pic>
        <p:nvPicPr>
          <p:cNvPr id="19" name="Picture 18" descr="CAM_13_Design_Studio_A.jpg"/>
          <p:cNvPicPr>
            <a:picLocks noChangeAspect="1"/>
          </p:cNvPicPr>
          <p:nvPr/>
        </p:nvPicPr>
        <p:blipFill>
          <a:blip r:embed="rId2"/>
          <a:srcRect t="7143" b="7143"/>
          <a:stretch>
            <a:fillRect/>
          </a:stretch>
        </p:blipFill>
        <p:spPr>
          <a:xfrm>
            <a:off x="8128000" y="3937000"/>
            <a:ext cx="3556000" cy="17145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91500" y="5435600"/>
            <a:ext cx="342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Global Design Studio (preview render)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609600"/>
            <a:ext cx="11176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6673D"/>
                </a:solidFill>
                <a:latin typeface="Inter"/>
              </a:rPr>
              <a:t>IMPLEMENTATION CONSIDERATIONS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863600"/>
            <a:ext cx="11176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1E1C"/>
                </a:solidFill>
                <a:latin typeface="Inter"/>
              </a:rPr>
              <a:t>To confirm before construction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8000" y="1841500"/>
          <a:ext cx="11176000" cy="2222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88000"/>
                <a:gridCol w="5588000"/>
              </a:tblGrid>
              <a:tr h="3175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673D"/>
                          </a:solidFill>
                          <a:latin typeface="Inter"/>
                        </a:rPr>
                        <a:t>Item</a:t>
                      </a:r>
                    </a:p>
                  </a:txBody>
                  <a:tcPr>
                    <a:solidFill>
                      <a:srgbClr val="EEEA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673D"/>
                          </a:solidFill>
                          <a:latin typeface="Inter"/>
                        </a:rPr>
                        <a:t>What has to be confirmed</a:t>
                      </a:r>
                    </a:p>
                  </a:txBody>
                  <a:tcPr>
                    <a:solidFill>
                      <a:srgbClr val="EEEAE2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673D"/>
                          </a:solidFill>
                          <a:latin typeface="Inter"/>
                        </a:rPr>
                        <a:t>Site measurements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C"/>
                          </a:solidFill>
                          <a:latin typeface="Inter"/>
                        </a:rPr>
                        <a:t>Floor-to-deck height, room 8 width, column positions and beam layout (currently estimated).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673D"/>
                          </a:solidFill>
                          <a:latin typeface="Inter"/>
                        </a:rPr>
                        <a:t>Structure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C"/>
                          </a:solidFill>
                          <a:latin typeface="Inter"/>
                        </a:rPr>
                        <a:t>Lintels for the new openings D17, D20, D22 and the lobby-reception glass - structural engineer.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673D"/>
                          </a:solidFill>
                          <a:latin typeface="Inter"/>
                        </a:rPr>
                        <a:t>Fire &amp; escape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C"/>
                          </a:solidFill>
                          <a:latin typeface="Inter"/>
                        </a:rPr>
                        <a:t>Ground-floor exits of the NE / SE stairs; without them the walk to the main gate is about 220 ft from the lounge.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673D"/>
                          </a:solidFill>
                          <a:latin typeface="Inter"/>
                        </a:rPr>
                        <a:t>MEP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C"/>
                          </a:solidFill>
                          <a:latin typeface="Inter"/>
                        </a:rPr>
                        <a:t>VRF cooling, fresh air for windowless rooms, exhausts (WCs, pantry, 3D lab), power/data, UPS, DB location.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673D"/>
                          </a:solidFill>
                          <a:latin typeface="Inter"/>
                        </a:rPr>
                        <a:t>Accessibility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C"/>
                          </a:solidFill>
                          <a:latin typeface="Inter"/>
                        </a:rPr>
                        <a:t>Ramp or lift at the two entrance steps; one accessible WC (door at least 36 in).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673D"/>
                          </a:solidFill>
                          <a:latin typeface="Inter"/>
                        </a:rPr>
                        <a:t>Approvals &amp; branding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C"/>
                          </a:solidFill>
                          <a:latin typeface="Inter"/>
                        </a:rPr>
                        <a:t>Fire / building approvals as applicable; trademark check for 'Global Design Studio'; signage from original vector logos.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8000" y="6032500"/>
            <a:ext cx="11176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A5750"/>
                </a:solidFill>
                <a:latin typeface="Inter"/>
              </a:rPr>
              <a:t>No budget or programme was supplied, so none is stated. Details: 04_DOCUMENTATION/technical_coordination_notes.md.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M_05_Experience_Centre_B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500" y="6642100"/>
            <a:ext cx="1206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Experience centre towards the brand-story wall - Blender Cycles render (preview render)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3810000"/>
            <a:ext cx="12192000" cy="3048000"/>
          </a:xfrm>
          <a:prstGeom prst="rect">
            <a:avLst/>
          </a:prstGeom>
          <a:solidFill>
            <a:srgbClr val="142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4064000"/>
            <a:ext cx="9525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9FD3B0"/>
                </a:solidFill>
                <a:latin typeface="Inter"/>
              </a:rPr>
              <a:t>CLOSING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4381500"/>
            <a:ext cx="10160000" cy="107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Inter"/>
              </a:rPr>
              <a:t>Quality, compliance and commitment - built into the space.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5524500"/>
            <a:ext cx="952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D9E2DC"/>
                </a:solidFill>
                <a:latin typeface="Inter"/>
              </a:rPr>
              <a:t>A ground floor that welcomes buyers, supports management and gives the design team room to create - ready for detailed design once the open site measurements are confirmed.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