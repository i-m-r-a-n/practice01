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5.jpg"/><Relationship Id="rId4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image" Target="../media/image2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M_04_Experience_Centre_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500" y="6642100"/>
            <a:ext cx="1206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 - Blender Cycles render of the project model (preview render)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317500" y="1905000"/>
            <a:ext cx="6223000" cy="3302000"/>
          </a:xfrm>
          <a:prstGeom prst="rect">
            <a:avLst/>
          </a:prstGeom>
          <a:solidFill>
            <a:srgbClr val="142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2095500"/>
            <a:ext cx="571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FD3B0"/>
                </a:solidFill>
                <a:latin typeface="Inter"/>
              </a:rPr>
              <a:t>INTERIOR DESIGN PROPOSAL  |  GROUND FLOOR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2349500"/>
            <a:ext cx="57150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Inter"/>
              </a:rPr>
              <a:t>Premium International Fashion Corporate Headquarters &amp; Design Development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4000500"/>
            <a:ext cx="571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9E2DC"/>
                </a:solidFill>
                <a:latin typeface="Inter"/>
              </a:rPr>
              <a:t>Stage II Knitting Apparel Ltd.  ·  Stage II Knitting Apparel Unit-1  ·  Zara Fashion</a:t>
            </a:r>
          </a:p>
          <a:p>
            <a:r>
              <a:rPr sz="1600" b="0">
                <a:solidFill>
                  <a:srgbClr val="D9E2DC"/>
                </a:solidFill>
                <a:latin typeface="Inter"/>
              </a:rPr>
              <a:t>Holding 329/2, Ward 15, Vogra, Bason, Gazipur</a:t>
            </a:r>
          </a:p>
        </p:txBody>
      </p:sp>
      <p:pic>
        <p:nvPicPr>
          <p:cNvPr id="8" name="Picture 7" descr="logo_zara_fashion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508000"/>
            <a:ext cx="1407886" cy="406400"/>
          </a:xfrm>
          <a:prstGeom prst="rect">
            <a:avLst/>
          </a:prstGeom>
        </p:spPr>
      </p:pic>
      <p:pic>
        <p:nvPicPr>
          <p:cNvPr id="9" name="Picture 8" descr="logo_stage2_lt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9000" y="508000"/>
            <a:ext cx="1449330" cy="406400"/>
          </a:xfrm>
          <a:prstGeom prst="rect">
            <a:avLst/>
          </a:prstGeom>
        </p:spPr>
      </p:pic>
      <p:pic>
        <p:nvPicPr>
          <p:cNvPr id="10" name="Picture 9" descr="logo_stage2_unit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0" y="508000"/>
            <a:ext cx="1447800" cy="406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PROJECT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985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One floor that tells the story from yarn to buyer-ready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9050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5750"/>
                </a:solidFill>
                <a:latin typeface="Inter"/>
              </a:rPr>
              <a:t>The ground floor becomes the face of the company: a calm, premium headquarters where international buyers meet the brand, management works in comfort and the Global Design Studio turns trends into production-ready products - with no production on this floor.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Visitor journey: lobby - reception - experience centre - boardroom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Executive suite and administration beside the visitor zone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Design-development wing: studio, CAD, fabric library, 3D lab, sample room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Staff cafe, lounge / training, prayer rooms and washrooms</a:t>
            </a:r>
          </a:p>
        </p:txBody>
      </p:sp>
      <p:pic>
        <p:nvPicPr>
          <p:cNvPr id="5" name="Picture 4" descr="CAM_02_Reception_B.jpg"/>
          <p:cNvPicPr>
            <a:picLocks noChangeAspect="1"/>
          </p:cNvPicPr>
          <p:nvPr/>
        </p:nvPicPr>
        <p:blipFill>
          <a:blip r:embed="rId2"/>
          <a:srcRect l="14216" r="14216"/>
          <a:stretch>
            <a:fillRect/>
          </a:stretch>
        </p:blipFill>
        <p:spPr>
          <a:xfrm>
            <a:off x="4445000" y="660400"/>
            <a:ext cx="7239000" cy="568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61341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Reception and visitor waiting (preview render)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DESIGN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985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Six principles behind every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2032000"/>
            <a:ext cx="3556000" cy="165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0400" y="21590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01  Modernity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" y="25400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Clean planes, slim black-aluminium glass, an exposed and painted structure - an honest contemporary shell.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8000" y="2032000"/>
            <a:ext cx="3556000" cy="165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1590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02  Functionality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0400" y="25400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Clear zoning: visitors, executives, administration, design development and staff support each have their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0" y="2032000"/>
            <a:ext cx="3556000" cy="165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400" y="21590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03  Collaboration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5400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Team tables, a buyer presentation table, a sample-review counter and glass views between departments.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3937000"/>
            <a:ext cx="3556000" cy="165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40640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04  Creativity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44450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Mood-board wall, fabric &amp; trim library, 3D printing lab and display bays keep products and ideas visible.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0" y="3937000"/>
            <a:ext cx="3556000" cy="165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0400" y="40640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05  Employee comfort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0400" y="44450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Ergonomic 1400 mm desks, acoustic felt, 4000 K task light, staff cafe, lounge and prayer rooms.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0" y="3937000"/>
            <a:ext cx="3556000" cy="165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400" y="40640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06  Professional image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0400" y="44450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The client's own logos and green, terrazzo, oak and walnut: a confident international brand presence.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FLOOR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350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Furnished ground-floor layout</a:t>
            </a:r>
          </a:p>
        </p:txBody>
      </p:sp>
      <p:pic>
        <p:nvPicPr>
          <p:cNvPr id="4" name="Picture 3" descr="ID-01_furnished_plan.png"/>
          <p:cNvPicPr>
            <a:picLocks noChangeAspect="1"/>
          </p:cNvPicPr>
          <p:nvPr/>
        </p:nvPicPr>
        <p:blipFill>
          <a:blip r:embed="rId2"/>
          <a:srcRect t="36" b="36"/>
          <a:stretch>
            <a:fillRect/>
          </a:stretch>
        </p:blipFill>
        <p:spPr>
          <a:xfrm>
            <a:off x="508000" y="355600"/>
            <a:ext cx="4318000" cy="6108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70500" y="1905000"/>
            <a:ext cx="6413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5750"/>
                </a:solidFill>
                <a:latin typeface="Inter"/>
              </a:rPr>
              <a:t>Overall 92'-4" front x 96'-6" (west) / 151'-3" (east) outside dimensions, from the client's hand-measured sketches. Fit-out zones total about 11,092 sft net.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270500" y="2667000"/>
          <a:ext cx="64135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7833"/>
                <a:gridCol w="2137833"/>
                <a:gridCol w="2137834"/>
              </a:tblGrid>
              <a:tr h="254000">
                <a:tc>
                  <a:txBody>
                    <a:bodyPr/>
                    <a:lstStyle/>
                    <a:p>
                      <a:r>
                        <a:rPr sz="1200"/>
                        <a:t>Key 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Status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Rooms 1 / 3 / 4 widths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25'-0" / 21'-8" / 43'-2"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measured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Middle block depth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73'-5"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derived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Rooms 5 + 6 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41'-7"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measured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Room 8 length / 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128'-2" / 37'-6"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measured / assumed</a:t>
                      </a:r>
                    </a:p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Floor to deck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9'-6"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photo estimate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270500" y="5905500"/>
            <a:ext cx="64135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Drawing set (A3): ID-01 furnished plan, ID-02 zoning, ID-03 ceiling + lighting, ID-04 power, data + fire. Geometry check: 75 of 75 model measurements match the survey values.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SPACE ZONING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350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Visitors in front, work in the middle, creation and care at the back</a:t>
            </a:r>
          </a:p>
        </p:txBody>
      </p:sp>
      <p:pic>
        <p:nvPicPr>
          <p:cNvPr id="4" name="Picture 3" descr="ID-02_zoning_plan.png"/>
          <p:cNvPicPr>
            <a:picLocks noChangeAspect="1"/>
          </p:cNvPicPr>
          <p:nvPr/>
        </p:nvPicPr>
        <p:blipFill>
          <a:blip r:embed="rId2"/>
          <a:srcRect t="36" b="36"/>
          <a:stretch>
            <a:fillRect/>
          </a:stretch>
        </p:blipFill>
        <p:spPr>
          <a:xfrm>
            <a:off x="508000" y="355600"/>
            <a:ext cx="4318000" cy="6108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70500" y="1905000"/>
            <a:ext cx="6413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5750"/>
                </a:solidFill>
                <a:latin typeface="Inter"/>
              </a:rPr>
              <a:t>Red route: visitors. Green route: staff. Brown: executive link to the boardroom. Visitors never pass through the offices.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270500" y="2667000"/>
          <a:ext cx="6413500" cy="2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7833"/>
                <a:gridCol w="2137833"/>
                <a:gridCol w="2137834"/>
              </a:tblGrid>
              <a:tr h="254000">
                <a:tc>
                  <a:txBody>
                    <a:bodyPr/>
                    <a:lstStyle/>
                    <a:p>
                      <a:r>
                        <a:rPr sz="1200"/>
                        <a:t>Zone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Net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Visitor &amp; reception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1,036 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Experience centre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707 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693 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Executive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873 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Administration &amp; workspaces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3,265 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Design &amp;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1,997 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Staff support &amp; circulation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1,704 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Prayer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375 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254000">
                <a:tc>
                  <a:txBody>
                    <a:bodyPr/>
                    <a:lstStyle/>
                    <a:p>
                      <a:r>
                        <a:rPr sz="1200"/>
                        <a:t>Washrooms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444 sft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17500" y="254000"/>
            <a:ext cx="6223000" cy="2095500"/>
          </a:xfrm>
          <a:prstGeom prst="rect">
            <a:avLst/>
          </a:prstGeom>
          <a:solidFill>
            <a:srgbClr val="F6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8000" y="444500"/>
            <a:ext cx="571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OVERALL 3D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698500"/>
            <a:ext cx="57150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E1E1C"/>
                </a:solidFill>
                <a:latin typeface="Inter"/>
              </a:rPr>
              <a:t>The complete ground floor, furnished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714500"/>
            <a:ext cx="571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E1E1C"/>
                </a:solidFill>
                <a:latin typeface="Inter"/>
              </a:rPr>
              <a:t>Editable Blender model: every wall, partition, door, light and piece of furniture is a separate named object in named collections.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RECEPTION &amp; ENTRANCE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985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A calm, branded welcome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9050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5750"/>
                </a:solidFill>
                <a:latin typeface="Inter"/>
              </a:rPr>
              <a:t>Guests step down from the gate into a terrazzo lobby with a security desk and the group's three logos on an oak brand wall, then into a warm reception.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Fluted white-oak counter, terrazzo ledge, accessible 760 mm section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Backlit logo plate on a fluted oak wall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Waiting lounge under an oak slat raft and a brass halo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Glass between lobby and reception</a:t>
            </a:r>
          </a:p>
        </p:txBody>
      </p:sp>
      <p:pic>
        <p:nvPicPr>
          <p:cNvPr id="5" name="Picture 4" descr="CAM_01_Reception_A.jpg"/>
          <p:cNvPicPr>
            <a:picLocks noChangeAspect="1"/>
          </p:cNvPicPr>
          <p:nvPr/>
        </p:nvPicPr>
        <p:blipFill>
          <a:blip r:embed="rId2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Reception (preview render)</a:t>
            </a:r>
          </a:p>
        </p:txBody>
      </p:sp>
      <p:pic>
        <p:nvPicPr>
          <p:cNvPr id="7" name="Picture 6" descr="CAM_02_Reception_B.jpg"/>
          <p:cNvPicPr>
            <a:picLocks noChangeAspect="1"/>
          </p:cNvPicPr>
          <p:nvPr/>
        </p:nvPicPr>
        <p:blipFill>
          <a:blip r:embed="rId3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Reception - waiting (preview render)</a:t>
            </a:r>
          </a:p>
        </p:txBody>
      </p:sp>
      <p:pic>
        <p:nvPicPr>
          <p:cNvPr id="9" name="Picture 8" descr="CAM_03_Entrance_Lobby.jpg"/>
          <p:cNvPicPr>
            <a:picLocks noChangeAspect="1"/>
          </p:cNvPicPr>
          <p:nvPr/>
        </p:nvPicPr>
        <p:blipFill>
          <a:blip r:embed="rId4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Entrance lobby - brand wall (preview render)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EXPERIENCE CENTRE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985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Where buyers meet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9050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5750"/>
                </a:solidFill>
                <a:latin typeface="Inter"/>
              </a:rPr>
              <a:t>At the centre of the floor, between reception and boardroom, the experience centre tells the company story and shows the collection.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Brand-story wall with the client's logos and tagline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Four garment bays: deep green backs, brass rails, LED shelves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Mannequin plinth and 'yarn to garment' touch table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Track lights fixed to the existing beams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Glass views into boardroom and fabric library</a:t>
            </a:r>
          </a:p>
        </p:txBody>
      </p:sp>
      <p:pic>
        <p:nvPicPr>
          <p:cNvPr id="5" name="Picture 4" descr="CAM_04_Experience_Centre_A.jpg"/>
          <p:cNvPicPr>
            <a:picLocks noChangeAspect="1"/>
          </p:cNvPicPr>
          <p:nvPr/>
        </p:nvPicPr>
        <p:blipFill>
          <a:blip r:embed="rId2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 (preview render)</a:t>
            </a:r>
          </a:p>
        </p:txBody>
      </p:sp>
      <p:pic>
        <p:nvPicPr>
          <p:cNvPr id="7" name="Picture 6" descr="CAM_05_Experience_Centre_B.jpg"/>
          <p:cNvPicPr>
            <a:picLocks noChangeAspect="1"/>
          </p:cNvPicPr>
          <p:nvPr/>
        </p:nvPicPr>
        <p:blipFill>
          <a:blip r:embed="rId3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 - story wall (preview render)</a:t>
            </a:r>
          </a:p>
        </p:txBody>
      </p:sp>
      <p:pic>
        <p:nvPicPr>
          <p:cNvPr id="9" name="Picture 8" descr="CAM_06_Experience_Centre_Detail.jpg"/>
          <p:cNvPicPr>
            <a:picLocks noChangeAspect="1"/>
          </p:cNvPicPr>
          <p:nvPr/>
        </p:nvPicPr>
        <p:blipFill>
          <a:blip r:embed="rId4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Display detail (preview render)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EXECUTIVE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985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Managing Director's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9050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5750"/>
                </a:solidFill>
                <a:latin typeface="Inter"/>
              </a:rPr>
              <a:t>A quiet, warm executive suite next to the reception, reached through the PA and executive waiting area and a glass executive corridor.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- 2.1 m smoked-walnut desk, cognac leather chair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Walnut feature wall with the company logo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Lounge corner for informal meetings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Oak herringbone floor, oak slat raft and halo light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Direct link from the executive suite to the boardroom</a:t>
            </a:r>
          </a:p>
        </p:txBody>
      </p:sp>
      <p:pic>
        <p:nvPicPr>
          <p:cNvPr id="5" name="Picture 4" descr="CAM_07_MD_Office_A.jpg"/>
          <p:cNvPicPr>
            <a:picLocks noChangeAspect="1"/>
          </p:cNvPicPr>
          <p:nvPr/>
        </p:nvPicPr>
        <p:blipFill>
          <a:blip r:embed="rId2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MD office (preview render)</a:t>
            </a:r>
          </a:p>
        </p:txBody>
      </p:sp>
      <p:pic>
        <p:nvPicPr>
          <p:cNvPr id="7" name="Picture 6" descr="CAM_08_MD_Office_B.jpg"/>
          <p:cNvPicPr>
            <a:picLocks noChangeAspect="1"/>
          </p:cNvPicPr>
          <p:nvPr/>
        </p:nvPicPr>
        <p:blipFill>
          <a:blip r:embed="rId3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MD office - lounge corner (preview render)</a:t>
            </a:r>
          </a:p>
        </p:txBody>
      </p:sp>
      <p:pic>
        <p:nvPicPr>
          <p:cNvPr id="9" name="Picture 8" descr="CAM_17_Executive_Reception.jpg"/>
          <p:cNvPicPr>
            <a:picLocks noChangeAspect="1"/>
          </p:cNvPicPr>
          <p:nvPr/>
        </p:nvPicPr>
        <p:blipFill>
          <a:blip r:embed="rId4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Executive reception (PA) (preview render)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BOARDROOM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985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A boardroom for international buyers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9050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5750"/>
                </a:solidFill>
                <a:latin typeface="Inter"/>
              </a:rPr>
              <a:t>Fifteen seats around a 6.1 m walnut table, between the reception, the executive suite and the experience centre.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- 86 in screen on an oak slat media wall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Green felt acoustic rafts set between the existing beams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Walnut acoustic slat wall, herringbone oak floor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Power/data trough in the table; privacy curtains recommended on the glass</a:t>
            </a:r>
          </a:p>
        </p:txBody>
      </p:sp>
      <p:pic>
        <p:nvPicPr>
          <p:cNvPr id="5" name="Picture 4" descr="CAM_09_Boardroom_A.jpg"/>
          <p:cNvPicPr>
            <a:picLocks noChangeAspect="1"/>
          </p:cNvPicPr>
          <p:nvPr/>
        </p:nvPicPr>
        <p:blipFill>
          <a:blip r:embed="rId2"/>
          <a:srcRect t="15692" b="15692"/>
          <a:stretch>
            <a:fillRect/>
          </a:stretch>
        </p:blipFill>
        <p:spPr>
          <a:xfrm>
            <a:off x="4445000" y="660400"/>
            <a:ext cx="7239000" cy="279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3238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Boardroom (preview render)</a:t>
            </a:r>
          </a:p>
        </p:txBody>
      </p:sp>
      <p:pic>
        <p:nvPicPr>
          <p:cNvPr id="7" name="Picture 6" descr="CAM_10_Boardroom_B.jpg"/>
          <p:cNvPicPr>
            <a:picLocks noChangeAspect="1"/>
          </p:cNvPicPr>
          <p:nvPr/>
        </p:nvPicPr>
        <p:blipFill>
          <a:blip r:embed="rId3"/>
          <a:srcRect t="15692" b="15692"/>
          <a:stretch>
            <a:fillRect/>
          </a:stretch>
        </p:blipFill>
        <p:spPr>
          <a:xfrm>
            <a:off x="4445000" y="3556000"/>
            <a:ext cx="7239000" cy="2794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8500" y="61341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Boardroom - towards the experience centre (preview render)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MAIN 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985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Workplaces that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9050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5750"/>
                </a:solidFill>
                <a:latin typeface="Inter"/>
              </a:rPr>
              <a:t>Merchandising, commercial &amp; accounts and HR &amp; admin share one desk family and one light and acoustic language.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- 48 dedicated workstations + 6 guest seats (about 50 % growth)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- 1400 x 700 mm bench desks, green felt screens, task chairs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Team table and sample-review counter for merchandisers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Felt baffles between the beams, 4000 K linear light</a:t>
            </a:r>
          </a:p>
        </p:txBody>
      </p:sp>
      <p:pic>
        <p:nvPicPr>
          <p:cNvPr id="5" name="Picture 4" descr="CAM_11_Merchandising_A.jpg"/>
          <p:cNvPicPr>
            <a:picLocks noChangeAspect="1"/>
          </p:cNvPicPr>
          <p:nvPr/>
        </p:nvPicPr>
        <p:blipFill>
          <a:blip r:embed="rId2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Merchandising open office (preview render)</a:t>
            </a:r>
          </a:p>
        </p:txBody>
      </p:sp>
      <p:pic>
        <p:nvPicPr>
          <p:cNvPr id="7" name="Picture 6" descr="CAM_12_Merchandising_B.jpg"/>
          <p:cNvPicPr>
            <a:picLocks noChangeAspect="1"/>
          </p:cNvPicPr>
          <p:nvPr/>
        </p:nvPicPr>
        <p:blipFill>
          <a:blip r:embed="rId3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Merchandising - team table (preview render)</a:t>
            </a:r>
          </a:p>
        </p:txBody>
      </p:sp>
      <p:pic>
        <p:nvPicPr>
          <p:cNvPr id="9" name="Picture 8" descr="CAM_16_Commercial_Accounts.jpg"/>
          <p:cNvPicPr>
            <a:picLocks noChangeAspect="1"/>
          </p:cNvPicPr>
          <p:nvPr/>
        </p:nvPicPr>
        <p:blipFill>
          <a:blip r:embed="rId4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Commercial &amp; accounts (preview render)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DESIGN STUDIO &amp; CAD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985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The Global Design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1905000"/>
            <a:ext cx="3556000" cy="444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5750"/>
                </a:solidFill>
                <a:latin typeface="Inter"/>
              </a:rPr>
              <a:t>Zones from the master plan (about 1,400 sft): creative desks, trend wall, collection presentation, technical design, fabric library and storage.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Designer desks at the east windows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- 7.4 m mood-board wall for trend research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Buyer presentation table with 86 in screen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CAD room with plotter; fabric &amp; trim library with D65 booth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- 3D printing lab and sample room as office-grade support</a:t>
            </a:r>
          </a:p>
        </p:txBody>
      </p:sp>
      <p:pic>
        <p:nvPicPr>
          <p:cNvPr id="5" name="Picture 4" descr="CAM_13_Design_Studio_A.jpg"/>
          <p:cNvPicPr>
            <a:picLocks noChangeAspect="1"/>
          </p:cNvPicPr>
          <p:nvPr/>
        </p:nvPicPr>
        <p:blipFill>
          <a:blip r:embed="rId2"/>
          <a:srcRect t="6335" b="6335"/>
          <a:stretch>
            <a:fillRect/>
          </a:stretch>
        </p:blipFill>
        <p:spPr>
          <a:xfrm>
            <a:off x="4445000" y="660400"/>
            <a:ext cx="7239000" cy="355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08500" y="4000500"/>
            <a:ext cx="711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Global Design Studio (preview render)</a:t>
            </a:r>
          </a:p>
        </p:txBody>
      </p:sp>
      <p:pic>
        <p:nvPicPr>
          <p:cNvPr id="7" name="Picture 6" descr="CAM_14_Design_Studio_B.jpg"/>
          <p:cNvPicPr>
            <a:picLocks noChangeAspect="1"/>
          </p:cNvPicPr>
          <p:nvPr/>
        </p:nvPicPr>
        <p:blipFill>
          <a:blip r:embed="rId3"/>
          <a:srcRect l="605" r="605"/>
          <a:stretch>
            <a:fillRect/>
          </a:stretch>
        </p:blipFill>
        <p:spPr>
          <a:xfrm>
            <a:off x="4445000" y="4318000"/>
            <a:ext cx="3568700" cy="203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085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Design studio - workstations + mood board (preview render)</a:t>
            </a:r>
          </a:p>
        </p:txBody>
      </p:sp>
      <p:pic>
        <p:nvPicPr>
          <p:cNvPr id="9" name="Picture 8" descr="CAM_15_CAD_Room.jpg"/>
          <p:cNvPicPr>
            <a:picLocks noChangeAspect="1"/>
          </p:cNvPicPr>
          <p:nvPr/>
        </p:nvPicPr>
        <p:blipFill>
          <a:blip r:embed="rId4"/>
          <a:srcRect l="605" r="605"/>
          <a:stretch>
            <a:fillRect/>
          </a:stretch>
        </p:blipFill>
        <p:spPr>
          <a:xfrm>
            <a:off x="8115300" y="4318000"/>
            <a:ext cx="3568700" cy="203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8800" y="6134100"/>
            <a:ext cx="34417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CAD / technical design (preview render)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SUPPORT 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985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Care for the people who make the product</a:t>
            </a:r>
          </a:p>
        </p:txBody>
      </p:sp>
      <p:pic>
        <p:nvPicPr>
          <p:cNvPr id="4" name="Picture 3" descr="CAM_20_Staff_Cafe.jpg"/>
          <p:cNvPicPr>
            <a:picLocks noChangeAspect="1"/>
          </p:cNvPicPr>
          <p:nvPr/>
        </p:nvPicPr>
        <p:blipFill>
          <a:blip r:embed="rId2"/>
          <a:srcRect l="2878" r="2878"/>
          <a:stretch>
            <a:fillRect/>
          </a:stretch>
        </p:blipFill>
        <p:spPr>
          <a:xfrm>
            <a:off x="508000" y="1778000"/>
            <a:ext cx="3638550" cy="2171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37338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Staff cafe + pantry (preview render)</a:t>
            </a:r>
          </a:p>
        </p:txBody>
      </p:sp>
      <p:pic>
        <p:nvPicPr>
          <p:cNvPr id="6" name="Picture 5" descr="CAM_21_Lounge_Training.jpg"/>
          <p:cNvPicPr>
            <a:picLocks noChangeAspect="1"/>
          </p:cNvPicPr>
          <p:nvPr/>
        </p:nvPicPr>
        <p:blipFill>
          <a:blip r:embed="rId3"/>
          <a:srcRect l="2878" r="2878"/>
          <a:stretch>
            <a:fillRect/>
          </a:stretch>
        </p:blipFill>
        <p:spPr>
          <a:xfrm>
            <a:off x="4273550" y="1778000"/>
            <a:ext cx="3638550" cy="2171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37050" y="37338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Lounge / training (multipurpose) (preview render)</a:t>
            </a:r>
          </a:p>
        </p:txBody>
      </p:sp>
      <p:pic>
        <p:nvPicPr>
          <p:cNvPr id="8" name="Picture 7" descr="CAM_22_Prayer_Male.jpg"/>
          <p:cNvPicPr>
            <a:picLocks noChangeAspect="1"/>
          </p:cNvPicPr>
          <p:nvPr/>
        </p:nvPicPr>
        <p:blipFill>
          <a:blip r:embed="rId4"/>
          <a:srcRect l="2878" r="2878"/>
          <a:stretch>
            <a:fillRect/>
          </a:stretch>
        </p:blipFill>
        <p:spPr>
          <a:xfrm>
            <a:off x="8039100" y="1778000"/>
            <a:ext cx="3638550" cy="2171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02600" y="37338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Prayer room (male) (preview render)</a:t>
            </a:r>
          </a:p>
        </p:txBody>
      </p:sp>
      <p:pic>
        <p:nvPicPr>
          <p:cNvPr id="10" name="Picture 9" descr="CAM_23_Sample_Room.jpg"/>
          <p:cNvPicPr>
            <a:picLocks noChangeAspect="1"/>
          </p:cNvPicPr>
          <p:nvPr/>
        </p:nvPicPr>
        <p:blipFill>
          <a:blip r:embed="rId5"/>
          <a:srcRect l="2878" r="2878"/>
          <a:stretch>
            <a:fillRect/>
          </a:stretch>
        </p:blipFill>
        <p:spPr>
          <a:xfrm>
            <a:off x="508000" y="4076700"/>
            <a:ext cx="3638550" cy="2171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" y="60325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Sample development (preview render)</a:t>
            </a:r>
          </a:p>
        </p:txBody>
      </p:sp>
      <p:pic>
        <p:nvPicPr>
          <p:cNvPr id="12" name="Picture 11" descr="CAM_25_Fabric_Library.jpg"/>
          <p:cNvPicPr>
            <a:picLocks noChangeAspect="1"/>
          </p:cNvPicPr>
          <p:nvPr/>
        </p:nvPicPr>
        <p:blipFill>
          <a:blip r:embed="rId6"/>
          <a:srcRect l="2878" r="2878"/>
          <a:stretch>
            <a:fillRect/>
          </a:stretch>
        </p:blipFill>
        <p:spPr>
          <a:xfrm>
            <a:off x="4273550" y="4076700"/>
            <a:ext cx="3638550" cy="2171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37050" y="60325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Fabric &amp; trim library (preview render)</a:t>
            </a:r>
          </a:p>
        </p:txBody>
      </p:sp>
      <p:pic>
        <p:nvPicPr>
          <p:cNvPr id="14" name="Picture 13" descr="CAM_28_Washroom_Male.jpg"/>
          <p:cNvPicPr>
            <a:picLocks noChangeAspect="1"/>
          </p:cNvPicPr>
          <p:nvPr/>
        </p:nvPicPr>
        <p:blipFill>
          <a:blip r:embed="rId7"/>
          <a:srcRect l="2878" r="2878"/>
          <a:stretch>
            <a:fillRect/>
          </a:stretch>
        </p:blipFill>
        <p:spPr>
          <a:xfrm>
            <a:off x="8039100" y="4076700"/>
            <a:ext cx="3638550" cy="21717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02600" y="6032500"/>
            <a:ext cx="35115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Staff washroom (preview render)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MATERIALS &amp; FINISHES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985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A warm, durable palette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8000" y="1905000"/>
          <a:ext cx="3937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2333"/>
                <a:gridCol w="1312333"/>
                <a:gridCol w="1312334"/>
              </a:tblGrid>
              <a:tr h="304800">
                <a:tc>
                  <a:txBody>
                    <a:bodyPr/>
                    <a:lstStyle/>
                    <a:p>
                      <a:r>
                        <a:rPr sz="1200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Finish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Where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TZ-01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Terrazzo-look porcelain, warm beige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visitor floors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WD-01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Oak herringbone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boardroom, executive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CP-01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Charcoal carpet tile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offices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WO-01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White-oak slats on acoustic felt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feature walls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WO-02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Smoked walnut veneer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executive furniture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PA-02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Deep green from the logo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accents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GL-01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12 mm glass, black aluminium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partitions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MT-02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Brushed brass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details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8000" y="6096000"/>
            <a:ext cx="9525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Specification concepts; final products by sample approval. Full schedule in 04_DOCUMENTATION.</a:t>
            </a:r>
          </a:p>
        </p:txBody>
      </p:sp>
      <p:pic>
        <p:nvPicPr>
          <p:cNvPr id="6" name="Picture 5" descr="material_board.jpg"/>
          <p:cNvPicPr>
            <a:picLocks noChangeAspect="1"/>
          </p:cNvPicPr>
          <p:nvPr/>
        </p:nvPicPr>
        <p:blipFill>
          <a:blip r:embed="rId2"/>
          <a:srcRect t="97" b="97"/>
          <a:stretch>
            <a:fillRect/>
          </a:stretch>
        </p:blipFill>
        <p:spPr>
          <a:xfrm>
            <a:off x="4826000" y="660400"/>
            <a:ext cx="6858000" cy="5689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89500" y="6134100"/>
            <a:ext cx="673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Material board - the PBR materials of the model, rendered in Blender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LIGHTING &amp; CEILING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350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The beams stay - and do the work</a:t>
            </a:r>
          </a:p>
        </p:txBody>
      </p:sp>
      <p:pic>
        <p:nvPicPr>
          <p:cNvPr id="4" name="Picture 3" descr="ID-03_ceiling_lighting_plan.png"/>
          <p:cNvPicPr>
            <a:picLocks noChangeAspect="1"/>
          </p:cNvPicPr>
          <p:nvPr/>
        </p:nvPicPr>
        <p:blipFill>
          <a:blip r:embed="rId2"/>
          <a:srcRect t="36" b="36"/>
          <a:stretch>
            <a:fillRect/>
          </a:stretch>
        </p:blipFill>
        <p:spPr>
          <a:xfrm>
            <a:off x="508000" y="355600"/>
            <a:ext cx="4318000" cy="6108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270500" y="1905000"/>
            <a:ext cx="6413500" cy="190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A5750"/>
                </a:solidFill>
                <a:latin typeface="Inter"/>
              </a:rPr>
              <a:t>- Existing steel deck and beams kept exposed, painted warm white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Experience centre: track lights fixed to the beams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Boardroom: green felt rafts between the beams; merchandising: felt baffles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Reception and MD office: oak slat rafts below beam level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- 4000 K direct/indirect light over desks; 3000-3500 K in visitor and executive areas</a:t>
            </a:r>
          </a:p>
          <a:p>
            <a:r>
              <a:rPr sz="1500" b="0">
                <a:solidFill>
                  <a:srgbClr val="5A5750"/>
                </a:solidFill>
                <a:latin typeface="Inter"/>
              </a:rPr>
              <a:t>- Accent spots on products and brand walls; halo pendants</a:t>
            </a:r>
          </a:p>
        </p:txBody>
      </p:sp>
      <p:pic>
        <p:nvPicPr>
          <p:cNvPr id="6" name="Picture 5" descr="CAM_09_Boardroom_A.jpg"/>
          <p:cNvPicPr>
            <a:picLocks noChangeAspect="1"/>
          </p:cNvPicPr>
          <p:nvPr/>
        </p:nvPicPr>
        <p:blipFill>
          <a:blip r:embed="rId3"/>
          <a:srcRect t="18317" b="18317"/>
          <a:stretch>
            <a:fillRect/>
          </a:stretch>
        </p:blipFill>
        <p:spPr>
          <a:xfrm>
            <a:off x="5270500" y="4064000"/>
            <a:ext cx="64135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34000" y="6134100"/>
            <a:ext cx="6286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Felt rafts between the beams - boardroom (preview render)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DESIGN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985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What the company gains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8000" y="2032000"/>
            <a:ext cx="3556000" cy="165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0400" y="21590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Operational efficiency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400" y="25400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Departments placed by workflow: merchandising beside the experience centre and sample room, HR at the staff entrance, the studio next to CAD, library and samples.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8000" y="2032000"/>
            <a:ext cx="3556000" cy="165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0400" y="21590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Professional 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0400" y="25400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A visitor sequence that presents the brand, the product and the management in one walk.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00" y="2032000"/>
            <a:ext cx="3556000" cy="165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0400" y="21590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Employee comfort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0400" y="25400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Ergonomic desks, acoustic control, daylight in the studio, cafe, lounge and prayer rooms.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3937000"/>
            <a:ext cx="3556000" cy="165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40640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Flexibility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44450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Bench desks, a multipurpose lounge / training room, glass partitions and about 50 % seat growth.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8000" y="3937000"/>
            <a:ext cx="3556000" cy="165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0400" y="4064000"/>
            <a:ext cx="32385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6673D"/>
                </a:solidFill>
                <a:latin typeface="Inter"/>
              </a:rPr>
              <a:t>Maintainability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0400" y="4445000"/>
            <a:ext cx="3238500" cy="1079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5750"/>
                </a:solidFill>
                <a:latin typeface="Inter"/>
              </a:rPr>
              <a:t>Hard-wearing terrazzo and porcelain, replaceable carpet tiles, exposed services that stay accessible.</a:t>
            </a:r>
          </a:p>
        </p:txBody>
      </p:sp>
      <p:pic>
        <p:nvPicPr>
          <p:cNvPr id="19" name="Picture 18" descr="CAM_13_Design_Studio_A.jpg"/>
          <p:cNvPicPr>
            <a:picLocks noChangeAspect="1"/>
          </p:cNvPicPr>
          <p:nvPr/>
        </p:nvPicPr>
        <p:blipFill>
          <a:blip r:embed="rId2"/>
          <a:srcRect t="10317" b="10317"/>
          <a:stretch>
            <a:fillRect/>
          </a:stretch>
        </p:blipFill>
        <p:spPr>
          <a:xfrm>
            <a:off x="8128000" y="3937000"/>
            <a:ext cx="3556000" cy="1587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91500" y="5308600"/>
            <a:ext cx="342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Global Design Studio (preview render)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609600"/>
            <a:ext cx="952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6673D"/>
                </a:solidFill>
                <a:latin typeface="Inter"/>
              </a:rPr>
              <a:t>IMPLEMENTATION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825500"/>
            <a:ext cx="6985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E1E1C"/>
                </a:solidFill>
                <a:latin typeface="Inter"/>
              </a:rPr>
              <a:t>To confirm before construction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8000" y="1905000"/>
          <a:ext cx="111760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/>
                <a:gridCol w="5588000"/>
              </a:tblGrid>
              <a:tr h="304800">
                <a:tc>
                  <a:txBody>
                    <a:bodyPr/>
                    <a:lstStyle/>
                    <a:p>
                      <a:r>
                        <a:rPr sz="1200"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What has to be confirmed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Site measurements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Floor-to-deck height, room 8 width, column positions and beam layout (currently estimated).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Lintels for the new openings D17, D20, D22 and the lobby-reception glass - structural engineer.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Fire &amp; escape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Ground-floor exits of the NE / SE stairs; without them the walk to the main gate is about 220 ft from the lounge.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MEP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VRF cooling, fresh air for windowless rooms, exhausts (WCs, pantry, 3D lab), power/data, UPS, DB location.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Accessibility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Ramp or lift at the two entrance steps; one accessible WC (door at least 36 in).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1200"/>
                        <a:t>Approvals &amp; branding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Fire / building approvals as applicable; trademark check for 'Global Design Studio'; signage from original vector logos.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8000" y="6096000"/>
            <a:ext cx="9525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A5750"/>
                </a:solidFill>
                <a:latin typeface="Inter"/>
              </a:rPr>
              <a:t>No budget or programme was supplied, so none is stated. Details: 04_DOCUMENTATION/technical_coordination_notes.md.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M_05_Experience_Centre_B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500" y="6642100"/>
            <a:ext cx="1206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Inter"/>
              </a:rPr>
              <a:t>Experience centre towards the brand-story wall - Blender Cycles render (preview render)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317500" y="3873500"/>
            <a:ext cx="6223000" cy="2095500"/>
          </a:xfrm>
          <a:prstGeom prst="rect">
            <a:avLst/>
          </a:prstGeom>
          <a:solidFill>
            <a:srgbClr val="142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4064000"/>
            <a:ext cx="5715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9FD3B0"/>
                </a:solidFill>
                <a:latin typeface="Inter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318000"/>
            <a:ext cx="57150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Inter"/>
              </a:rPr>
              <a:t>Quality, compliance and commitment - built into the 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5334000"/>
            <a:ext cx="571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Inter"/>
              </a:rPr>
              <a:t>A ground floor that welcomes buyers, supports management and gives the design team room to create - ready for detailed design once the open site measurements are confirmed.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6604000"/>
            <a:ext cx="825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STAGE II KNITTING APPAREL / ZARA FASHION  |  Ground-floor corporate office - interior design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0" y="6604000"/>
            <a:ext cx="63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5750"/>
                </a:solidFill>
                <a:latin typeface="Inter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