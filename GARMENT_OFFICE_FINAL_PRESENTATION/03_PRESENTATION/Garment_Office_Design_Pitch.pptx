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6.jpg"/><Relationship Id="rId8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3.jpg"/><Relationship Id="rId6" Type="http://schemas.openxmlformats.org/officeDocument/2006/relationships/image" Target="../media/image1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6.jpg"/><Relationship Id="rId5" Type="http://schemas.openxmlformats.org/officeDocument/2006/relationships/image" Target="../media/image11.jpg"/><Relationship Id="rId6" Type="http://schemas.openxmlformats.org/officeDocument/2006/relationships/image" Target="../media/image27.jpg"/><Relationship Id="rId7" Type="http://schemas.openxmlformats.org/officeDocument/2006/relationships/image" Target="../media/image2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26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0.jpg"/><Relationship Id="rId4" Type="http://schemas.openxmlformats.org/officeDocument/2006/relationships/image" Target="../media/image20.jpg"/><Relationship Id="rId5" Type="http://schemas.openxmlformats.org/officeDocument/2006/relationships/image" Target="../media/image31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Relationship Id="rId7" Type="http://schemas.openxmlformats.org/officeDocument/2006/relationships/image" Target="../media/image4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2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_04_Experience_Centre_A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04000" cy="685800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1000" y="381000"/>
            <a:ext cx="57150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zara_fashion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95300"/>
            <a:ext cx="1587500" cy="458247"/>
          </a:xfrm>
          <a:prstGeom prst="rect">
            <a:avLst/>
          </a:prstGeom>
        </p:spPr>
      </p:pic>
      <p:pic>
        <p:nvPicPr>
          <p:cNvPr id="6" name="Picture 5" descr="logo_stage2_l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495300"/>
            <a:ext cx="1587500" cy="445144"/>
          </a:xfrm>
          <a:prstGeom prst="rect">
            <a:avLst/>
          </a:prstGeom>
        </p:spPr>
      </p:pic>
      <p:pic>
        <p:nvPicPr>
          <p:cNvPr id="7" name="Picture 6" descr="logo_stage2_uni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495300"/>
            <a:ext cx="1587500" cy="445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8000" y="1905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FD3B0"/>
                </a:solidFill>
                <a:latin typeface="Inter"/>
              </a:rPr>
              <a:t>INTERIOR DESIGN PROPOSAL  |  GROUND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22500"/>
            <a:ext cx="57150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Inter"/>
              </a:rPr>
              <a:t>Premium International Fashion Corporate Headquarters &amp; Design Development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5016500"/>
            <a:ext cx="571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9E2DC"/>
                </a:solidFill>
                <a:latin typeface="Inter"/>
              </a:rPr>
              <a:t>Stage II Knitting Apparel Ltd.  ·  Stage II Knitting Apparel Unit-1  ·  Zara Fashion</a:t>
            </a:r>
          </a:p>
          <a:p>
            <a:r>
              <a:rPr sz="1500" b="0">
                <a:solidFill>
                  <a:srgbClr val="D9E2DC"/>
                </a:solidFill>
                <a:latin typeface="Inter"/>
              </a:rPr>
              <a:t>Holding 329/2, Ward 15, Vogra, Bason, Gazipur</a:t>
            </a:r>
          </a:p>
        </p:txBody>
      </p:sp>
      <p:pic>
        <p:nvPicPr>
          <p:cNvPr id="11" name="Picture 10" descr="tagline_quality_compliance_commit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5905500"/>
            <a:ext cx="3937000" cy="2352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0" y="6248400"/>
            <a:ext cx="596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D3CC"/>
                </a:solidFill>
                <a:latin typeface="Inter"/>
              </a:rPr>
              <a:t>Experience centre - Blender Cycles render of the project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B3AB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B3AB"/>
                </a:solidFill>
                <a:latin typeface="Inter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PROJECT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One floor that tells the story from yarn to buyer-ready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2190750"/>
            <a:ext cx="3683000" cy="276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The face of the company: a calm, premium headquarters where buyers meet the brand, management works in comfort and the design team turns trends into products - with no production on this floor.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Visitor journey: lobby - reception - experience centre - boardroom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Executive suite and administration beside the visitor zone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Design wing, staff cafe, lounge / training and prayer rooms behind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6673D"/>
                </a:solidFill>
                <a:latin typeface="Inter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53340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rooms and zones designed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9500" y="50165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6673D"/>
                </a:solidFill>
                <a:latin typeface="Inter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9500" y="53340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work seats incl. growth and guests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57150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6673D"/>
                </a:solidFill>
                <a:latin typeface="Inter"/>
              </a:rPr>
              <a:t>707 sft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0325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experience centre at the heart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500" y="57150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6673D"/>
                </a:solidFill>
                <a:latin typeface="Inter"/>
              </a:rPr>
              <a:t>75 /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9500" y="6032500"/>
            <a:ext cx="177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survey dimension checks passed</a:t>
            </a:r>
          </a:p>
        </p:txBody>
      </p:sp>
      <p:pic>
        <p:nvPicPr>
          <p:cNvPr id="13" name="Picture 12" descr="CAM_02_Reception_B.jpg"/>
          <p:cNvPicPr>
            <a:picLocks noChangeAspect="1"/>
          </p:cNvPicPr>
          <p:nvPr/>
        </p:nvPicPr>
        <p:blipFill>
          <a:blip r:embed="rId2"/>
          <a:srcRect l="22746" r="5686"/>
          <a:stretch>
            <a:fillRect/>
          </a:stretch>
        </p:blipFill>
        <p:spPr>
          <a:xfrm>
            <a:off x="4445000" y="660400"/>
            <a:ext cx="7239000" cy="5689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45000" y="6096000"/>
            <a:ext cx="21082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800" y="61087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Reception desk and logo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952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DESIGN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1E1C"/>
                </a:solidFill>
                <a:latin typeface="Inter"/>
              </a:rPr>
              <a:t>Six principles behind every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2032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2171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01   Modernity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540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Clean planes, slim black-aluminium glass, an exposed and painted structure - an honest contemporary shell.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8000" y="2032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0400" y="2171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02  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0400" y="2540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Clear zoning: visitors, executives, administration, design development and staff support each have their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0" y="2032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400" y="2171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03   Collaboration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400" y="2540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Team tables, a buyer presentation table, a sample-review counter and glass views between departments.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937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076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04   Creativity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4445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Mood-board wall, fabric &amp; trim library, 3D printing lab and display bays keep products and ideas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3937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4076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05   Employee comfort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4445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Ergonomic 1400 mm desks, acoustic felt, 4000 K task light, staff cafe, lounge and prayer rooms.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0" y="3937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0400" y="4076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06   Professional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400" y="4445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The client's own logos and green, terrazzo, oak and walnut: a confident international brand presence.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D-01_furnished_plan.png"/>
          <p:cNvPicPr>
            <a:picLocks noChangeAspect="1"/>
          </p:cNvPicPr>
          <p:nvPr/>
        </p:nvPicPr>
        <p:blipFill>
          <a:blip r:embed="rId2"/>
          <a:srcRect t="36" b="36"/>
          <a:stretch>
            <a:fillRect/>
          </a:stretch>
        </p:blipFill>
        <p:spPr>
          <a:xfrm>
            <a:off x="508000" y="355600"/>
            <a:ext cx="4318000" cy="610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0" y="609600"/>
            <a:ext cx="6413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FLOOR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0500" y="863600"/>
            <a:ext cx="6413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E1C"/>
                </a:solidFill>
                <a:latin typeface="Inter"/>
              </a:rPr>
              <a:t>Furnished ground-floor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0500" y="1841500"/>
            <a:ext cx="6413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750"/>
                </a:solidFill>
                <a:latin typeface="Inter"/>
              </a:rPr>
              <a:t>Overall 92'-4" front x 96'-6" (west) / 151'-3" (east) outside dimensions, from the client's hand-measured sketches. Fit-out zones total about 11,092 sft net.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70500" y="2603500"/>
          <a:ext cx="64135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833"/>
                <a:gridCol w="2137833"/>
                <a:gridCol w="2137834"/>
              </a:tblGrid>
              <a:tr h="292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Key dimension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Value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Rooms 1 / 3 / 4 widths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25'-0" / 21'-8" / 43'-2"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Middle block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73'-5"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derived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Rooms 5 + 6 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41'-7"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Room 8 length / width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128'-2" / 37'-6"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measured / assumed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Floor to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9'-6"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photo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70500" y="5969000"/>
            <a:ext cx="64135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Drawing set (A3): ID-01 furnished plan, ID-02 zoning, ID-03 ceiling + lighting, ID-04 power, data + fire. Geometry check: 75 of 75 model measurements match the survey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D-02_zoning_plan.png"/>
          <p:cNvPicPr>
            <a:picLocks noChangeAspect="1"/>
          </p:cNvPicPr>
          <p:nvPr/>
        </p:nvPicPr>
        <p:blipFill>
          <a:blip r:embed="rId2"/>
          <a:srcRect t="36" b="36"/>
          <a:stretch>
            <a:fillRect/>
          </a:stretch>
        </p:blipFill>
        <p:spPr>
          <a:xfrm>
            <a:off x="508000" y="355600"/>
            <a:ext cx="4318000" cy="610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0" y="609600"/>
            <a:ext cx="6413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SPACE ZONING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0500" y="863600"/>
            <a:ext cx="6413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E1C"/>
                </a:solidFill>
                <a:latin typeface="Inter"/>
              </a:rPr>
              <a:t>Visitors in front, work in the middle, creation and care at the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0500" y="1841500"/>
            <a:ext cx="64135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750"/>
                </a:solidFill>
                <a:latin typeface="Inter"/>
              </a:rPr>
              <a:t>Red route: visitors. Green route: staff. Brown: executive link to the boardroom. Visitors never pass through the offices.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70500" y="2603500"/>
          <a:ext cx="64135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833"/>
                <a:gridCol w="2137833"/>
                <a:gridCol w="2137834"/>
              </a:tblGrid>
              <a:tr h="292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Zone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Net area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EAE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Visitor &amp; reception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1,036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Experience centre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707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Meeting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693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873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Administration &amp; workspaces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3,265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Design &amp;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1,997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Staff support &amp; circulation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1,704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Prayer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375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Washrooms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444 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_ISO_S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80C0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7500" y="317500"/>
            <a:ext cx="3429000" cy="15875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9100"/>
            <a:ext cx="31750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6673D"/>
                </a:solidFill>
                <a:latin typeface="Inter"/>
              </a:rPr>
              <a:t>OVERALL 3D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700"/>
            <a:ext cx="3175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1E1C"/>
                </a:solidFill>
                <a:latin typeface="Inter"/>
              </a:rPr>
              <a:t>The complete ground floor, furnished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44600"/>
            <a:ext cx="3175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Editable Blender model: every wall, partition, door, light and piece of furniture is a separate named object in named collections.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6248400"/>
            <a:ext cx="596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D3CC"/>
                </a:solidFill>
                <a:latin typeface="Inter"/>
              </a:rPr>
              <a:t>Overall isometric cut-away of the furnished floor - Blender Cycles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B3AB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B3AB"/>
                </a:solidFill>
                <a:latin typeface="Inter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RECEPTION &amp; ENTRANCE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A calm, branded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41500"/>
            <a:ext cx="36830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Guests step down from the gate into a terrazzo lobby with a security desk and the group's three logos on an oak brand wall, then into a warm reception.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Fluted white-oak counter, terrazzo ledge, accessible 760 mm section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Backlit logo plate on a fluted oak wall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Waiting lounge under an oak slat raft and a brass halo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Glass between lobby and reception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368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KEY FINISHES</a:t>
            </a:r>
          </a:p>
        </p:txBody>
      </p:sp>
      <p:pic>
        <p:nvPicPr>
          <p:cNvPr id="6" name="Picture 5" descr="swatch_TZ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45100"/>
            <a:ext cx="79375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9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TZ-01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Terrazzo floor</a:t>
            </a:r>
          </a:p>
        </p:txBody>
      </p:sp>
      <p:pic>
        <p:nvPicPr>
          <p:cNvPr id="9" name="Picture 8" descr="swatch_WO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5245100"/>
            <a:ext cx="7937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06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WO-01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White-oak slats</a:t>
            </a:r>
          </a:p>
        </p:txBody>
      </p:sp>
      <p:pic>
        <p:nvPicPr>
          <p:cNvPr id="12" name="Picture 11" descr="swatch_SS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5245100"/>
            <a:ext cx="79375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14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SS-01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4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Quartz / terrazzo top</a:t>
            </a:r>
          </a:p>
        </p:txBody>
      </p:sp>
      <p:pic>
        <p:nvPicPr>
          <p:cNvPr id="15" name="Picture 14" descr="swatch_MT-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5245100"/>
            <a:ext cx="79375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21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MT-02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Brushed brass</a:t>
            </a:r>
          </a:p>
        </p:txBody>
      </p:sp>
      <p:pic>
        <p:nvPicPr>
          <p:cNvPr id="18" name="Picture 17" descr="CAM_01_Reception_A.jpg"/>
          <p:cNvPicPr>
            <a:picLocks noChangeAspect="1"/>
          </p:cNvPicPr>
          <p:nvPr/>
        </p:nvPicPr>
        <p:blipFill>
          <a:blip r:embed="rId6"/>
          <a:srcRect t="6335" b="6335"/>
          <a:stretch>
            <a:fillRect/>
          </a:stretch>
        </p:blipFill>
        <p:spPr>
          <a:xfrm>
            <a:off x="4445000" y="660400"/>
            <a:ext cx="7239000" cy="3556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5000" y="3962400"/>
            <a:ext cx="21082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0" y="39751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Reception and visitor lounge</a:t>
            </a:r>
          </a:p>
        </p:txBody>
      </p:sp>
      <p:pic>
        <p:nvPicPr>
          <p:cNvPr id="21" name="Picture 20" descr="CAM_02_Reception_B.jpg"/>
          <p:cNvPicPr>
            <a:picLocks noChangeAspect="1"/>
          </p:cNvPicPr>
          <p:nvPr/>
        </p:nvPicPr>
        <p:blipFill>
          <a:blip r:embed="rId7"/>
          <a:srcRect l="605" r="605"/>
          <a:stretch>
            <a:fillRect/>
          </a:stretch>
        </p:blipFill>
        <p:spPr>
          <a:xfrm>
            <a:off x="4445000" y="4318000"/>
            <a:ext cx="3568700" cy="2032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45000" y="6096000"/>
            <a:ext cx="21082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Reception desk and logo wall</a:t>
            </a:r>
          </a:p>
        </p:txBody>
      </p:sp>
      <p:pic>
        <p:nvPicPr>
          <p:cNvPr id="24" name="Picture 23" descr="CAM_03_Entrance_Lobby.jpg"/>
          <p:cNvPicPr>
            <a:picLocks noChangeAspect="1"/>
          </p:cNvPicPr>
          <p:nvPr/>
        </p:nvPicPr>
        <p:blipFill>
          <a:blip r:embed="rId8"/>
          <a:srcRect l="605" r="605"/>
          <a:stretch>
            <a:fillRect/>
          </a:stretch>
        </p:blipFill>
        <p:spPr>
          <a:xfrm>
            <a:off x="8115300" y="4318000"/>
            <a:ext cx="3568700" cy="2032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15300" y="6096000"/>
            <a:ext cx="20383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61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Entrance lobby - brand wall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EXPERIENCE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Where buyers meet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41500"/>
            <a:ext cx="36830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At the centre of the floor, between reception and boardroom, the experience centre tells the company story and shows the collection.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Brand-story wall with the client's logos and tagline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Four garment bays: deep green backs, brass rails, LED shelves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Mannequin plinth and 'yarn to garment' touch table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Track lights fixed to the existing beams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Glass views into boardroom and fabric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368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KEY FINISHES</a:t>
            </a:r>
          </a:p>
        </p:txBody>
      </p:sp>
      <p:pic>
        <p:nvPicPr>
          <p:cNvPr id="6" name="Picture 5" descr="swatch_TZ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45100"/>
            <a:ext cx="79375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9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TZ-01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Terrazzo floor</a:t>
            </a:r>
          </a:p>
        </p:txBody>
      </p:sp>
      <p:pic>
        <p:nvPicPr>
          <p:cNvPr id="9" name="Picture 8" descr="swatch_PA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5245100"/>
            <a:ext cx="7937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06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PA-02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Brand green</a:t>
            </a:r>
          </a:p>
        </p:txBody>
      </p:sp>
      <p:pic>
        <p:nvPicPr>
          <p:cNvPr id="12" name="Picture 11" descr="swatch_WO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5245100"/>
            <a:ext cx="79375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14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WO-01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4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White-oak slats</a:t>
            </a:r>
          </a:p>
        </p:txBody>
      </p:sp>
      <p:pic>
        <p:nvPicPr>
          <p:cNvPr id="15" name="Picture 14" descr="swatch_MT-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5245100"/>
            <a:ext cx="79375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21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MT-02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Brushed brass</a:t>
            </a:r>
          </a:p>
        </p:txBody>
      </p:sp>
      <p:pic>
        <p:nvPicPr>
          <p:cNvPr id="18" name="Picture 17" descr="CAM_04_Experience_Centre_A.jpg"/>
          <p:cNvPicPr>
            <a:picLocks noChangeAspect="1"/>
          </p:cNvPicPr>
          <p:nvPr/>
        </p:nvPicPr>
        <p:blipFill>
          <a:blip r:embed="rId6"/>
          <a:srcRect t="6335" b="6335"/>
          <a:stretch>
            <a:fillRect/>
          </a:stretch>
        </p:blipFill>
        <p:spPr>
          <a:xfrm>
            <a:off x="4445000" y="660400"/>
            <a:ext cx="7239000" cy="3556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5000" y="3962400"/>
            <a:ext cx="13525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0" y="39751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Experience centre</a:t>
            </a:r>
          </a:p>
        </p:txBody>
      </p:sp>
      <p:pic>
        <p:nvPicPr>
          <p:cNvPr id="21" name="Picture 20" descr="CAM_05_Experience_Centre_B.jpg"/>
          <p:cNvPicPr>
            <a:picLocks noChangeAspect="1"/>
          </p:cNvPicPr>
          <p:nvPr/>
        </p:nvPicPr>
        <p:blipFill>
          <a:blip r:embed="rId7"/>
          <a:srcRect l="605" r="605"/>
          <a:stretch>
            <a:fillRect/>
          </a:stretch>
        </p:blipFill>
        <p:spPr>
          <a:xfrm>
            <a:off x="4445000" y="4318000"/>
            <a:ext cx="3568700" cy="2032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45000" y="6096000"/>
            <a:ext cx="22479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Experience centre - story wall</a:t>
            </a:r>
          </a:p>
        </p:txBody>
      </p:sp>
      <p:pic>
        <p:nvPicPr>
          <p:cNvPr id="24" name="Picture 23" descr="CAM_06_Experience_Centre_Detail.jpg"/>
          <p:cNvPicPr>
            <a:picLocks noChangeAspect="1"/>
          </p:cNvPicPr>
          <p:nvPr/>
        </p:nvPicPr>
        <p:blipFill>
          <a:blip r:embed="rId8"/>
          <a:srcRect l="605" r="605"/>
          <a:stretch>
            <a:fillRect/>
          </a:stretch>
        </p:blipFill>
        <p:spPr>
          <a:xfrm>
            <a:off x="8115300" y="4318000"/>
            <a:ext cx="3568700" cy="2032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15300" y="6096000"/>
            <a:ext cx="11493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61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Display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EXECUTIVE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Managing Director's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41500"/>
            <a:ext cx="36830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A quiet, warm executive suite next to the reception, reached through the PA and executive waiting area and a glass executive corridor.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- 2.1 m smoked-walnut desk, cognac leather chair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Walnut feature wall with the company logo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Lounge corner for informal meetings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Oak herringbone floor, oak slat raft and halo light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Direct link from the executive suite to the boardroom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368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KEY FINISHES</a:t>
            </a:r>
          </a:p>
        </p:txBody>
      </p:sp>
      <p:pic>
        <p:nvPicPr>
          <p:cNvPr id="6" name="Picture 5" descr="swatch_W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45100"/>
            <a:ext cx="79375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9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WD-01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Oak herringbone</a:t>
            </a:r>
          </a:p>
        </p:txBody>
      </p:sp>
      <p:pic>
        <p:nvPicPr>
          <p:cNvPr id="9" name="Picture 8" descr="swatch_WO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5245100"/>
            <a:ext cx="7937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06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WO-02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Smoked walnut</a:t>
            </a:r>
          </a:p>
        </p:txBody>
      </p:sp>
      <p:pic>
        <p:nvPicPr>
          <p:cNvPr id="12" name="Picture 11" descr="swatch_UP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5245100"/>
            <a:ext cx="79375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14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UP-02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4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Cognac leather</a:t>
            </a:r>
          </a:p>
        </p:txBody>
      </p:sp>
      <p:pic>
        <p:nvPicPr>
          <p:cNvPr id="15" name="Picture 14" descr="swatch_UP-01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5245100"/>
            <a:ext cx="79375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21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UP-01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Sand fabric</a:t>
            </a:r>
          </a:p>
        </p:txBody>
      </p:sp>
      <p:pic>
        <p:nvPicPr>
          <p:cNvPr id="18" name="Picture 17" descr="CAM_07_MD_Office_A.jpg"/>
          <p:cNvPicPr>
            <a:picLocks noChangeAspect="1"/>
          </p:cNvPicPr>
          <p:nvPr/>
        </p:nvPicPr>
        <p:blipFill>
          <a:blip r:embed="rId6"/>
          <a:srcRect t="6335" b="6335"/>
          <a:stretch>
            <a:fillRect/>
          </a:stretch>
        </p:blipFill>
        <p:spPr>
          <a:xfrm>
            <a:off x="4445000" y="660400"/>
            <a:ext cx="7239000" cy="3556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5000" y="3962400"/>
            <a:ext cx="8064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0" y="39751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MD office</a:t>
            </a:r>
          </a:p>
        </p:txBody>
      </p:sp>
      <p:pic>
        <p:nvPicPr>
          <p:cNvPr id="21" name="Picture 20" descr="CAM_08_MD_Office_B.jpg"/>
          <p:cNvPicPr>
            <a:picLocks noChangeAspect="1"/>
          </p:cNvPicPr>
          <p:nvPr/>
        </p:nvPicPr>
        <p:blipFill>
          <a:blip r:embed="rId7"/>
          <a:srcRect l="605" r="605"/>
          <a:stretch>
            <a:fillRect/>
          </a:stretch>
        </p:blipFill>
        <p:spPr>
          <a:xfrm>
            <a:off x="4445000" y="4318000"/>
            <a:ext cx="3568700" cy="2032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45000" y="6096000"/>
            <a:ext cx="19050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MD office - lounge corner</a:t>
            </a:r>
          </a:p>
        </p:txBody>
      </p:sp>
      <p:pic>
        <p:nvPicPr>
          <p:cNvPr id="24" name="Picture 23" descr="CAM_17_Executive_Reception.jpg"/>
          <p:cNvPicPr>
            <a:picLocks noChangeAspect="1"/>
          </p:cNvPicPr>
          <p:nvPr/>
        </p:nvPicPr>
        <p:blipFill>
          <a:blip r:embed="rId8"/>
          <a:srcRect l="605" r="605"/>
          <a:stretch>
            <a:fillRect/>
          </a:stretch>
        </p:blipFill>
        <p:spPr>
          <a:xfrm>
            <a:off x="8115300" y="4318000"/>
            <a:ext cx="3568700" cy="2032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15300" y="6096000"/>
            <a:ext cx="18351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61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Executive reception (PA)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BOARDROOM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A boardroom for international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41500"/>
            <a:ext cx="36830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Fifteen seats around a 6.1 m walnut table, between the reception, the executive suite and the experience centre.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- 86 in screen on an oak slat media wall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Green felt acoustic rafts set between the existing beams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Walnut acoustic slat wall, herringbone oak floor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Power/data trough in the table; privacy curtains recommended on the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368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KEY FINISHES</a:t>
            </a:r>
          </a:p>
        </p:txBody>
      </p:sp>
      <p:pic>
        <p:nvPicPr>
          <p:cNvPr id="6" name="Picture 5" descr="swatch_W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45100"/>
            <a:ext cx="79375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9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WD-01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Oak herringbone</a:t>
            </a:r>
          </a:p>
        </p:txBody>
      </p:sp>
      <p:pic>
        <p:nvPicPr>
          <p:cNvPr id="9" name="Picture 8" descr="swatch_WO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5245100"/>
            <a:ext cx="7937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06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WO-02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Smoked walnut</a:t>
            </a:r>
          </a:p>
        </p:txBody>
      </p:sp>
      <p:pic>
        <p:nvPicPr>
          <p:cNvPr id="12" name="Picture 11" descr="swatch_AC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5245100"/>
            <a:ext cx="79375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14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AC-01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4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Acoustic felt</a:t>
            </a:r>
          </a:p>
        </p:txBody>
      </p:sp>
      <p:pic>
        <p:nvPicPr>
          <p:cNvPr id="15" name="Picture 14" descr="swatch_WO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5245100"/>
            <a:ext cx="79375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21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WO-01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White-oak slats</a:t>
            </a:r>
          </a:p>
        </p:txBody>
      </p:sp>
      <p:pic>
        <p:nvPicPr>
          <p:cNvPr id="18" name="Picture 17" descr="CAM_09_Boardroom_A.jpg"/>
          <p:cNvPicPr>
            <a:picLocks noChangeAspect="1"/>
          </p:cNvPicPr>
          <p:nvPr/>
        </p:nvPicPr>
        <p:blipFill>
          <a:blip r:embed="rId6"/>
          <a:srcRect t="15692" b="15692"/>
          <a:stretch>
            <a:fillRect/>
          </a:stretch>
        </p:blipFill>
        <p:spPr>
          <a:xfrm>
            <a:off x="4445000" y="660400"/>
            <a:ext cx="7239000" cy="2794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5000" y="3200400"/>
            <a:ext cx="8064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0" y="32131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Boardroom</a:t>
            </a:r>
          </a:p>
        </p:txBody>
      </p:sp>
      <p:pic>
        <p:nvPicPr>
          <p:cNvPr id="21" name="Picture 20" descr="CAM_10_Boardroom_B.jpg"/>
          <p:cNvPicPr>
            <a:picLocks noChangeAspect="1"/>
          </p:cNvPicPr>
          <p:nvPr/>
        </p:nvPicPr>
        <p:blipFill>
          <a:blip r:embed="rId7"/>
          <a:srcRect t="15692" b="15692"/>
          <a:stretch>
            <a:fillRect/>
          </a:stretch>
        </p:blipFill>
        <p:spPr>
          <a:xfrm>
            <a:off x="4445000" y="3556000"/>
            <a:ext cx="7239000" cy="2794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45000" y="6096000"/>
            <a:ext cx="29972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61087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Boardroom - towards the experience centre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MAIN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Workplaces that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41500"/>
            <a:ext cx="36830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Merchandising, commercial &amp; accounts and HR &amp; admin share one desk family and one light and acoustic language.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- 48 dedicated workstations + 6 guest seats (about 50 % growth)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- 1400 x 700 mm bench desks, green felt screens, task chairs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Team table and sample-review counter for merchandisers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Felt baffles between the beams, 4000 K linear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368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KEY FINISHES</a:t>
            </a:r>
          </a:p>
        </p:txBody>
      </p:sp>
      <p:pic>
        <p:nvPicPr>
          <p:cNvPr id="6" name="Picture 5" descr="swatch_C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45100"/>
            <a:ext cx="79375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9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CP-01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Carpet tile</a:t>
            </a:r>
          </a:p>
        </p:txBody>
      </p:sp>
      <p:pic>
        <p:nvPicPr>
          <p:cNvPr id="9" name="Picture 8" descr="swatch_AC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5245100"/>
            <a:ext cx="7937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06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AC-01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Acoustic felt</a:t>
            </a:r>
          </a:p>
        </p:txBody>
      </p:sp>
      <p:pic>
        <p:nvPicPr>
          <p:cNvPr id="12" name="Picture 11" descr="swatch_UP-01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5245100"/>
            <a:ext cx="79375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14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UP-01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4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Green fabric</a:t>
            </a:r>
          </a:p>
        </p:txBody>
      </p:sp>
      <p:pic>
        <p:nvPicPr>
          <p:cNvPr id="15" name="Picture 14" descr="swatch_PA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5245100"/>
            <a:ext cx="79375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21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PA-01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Warm white paint</a:t>
            </a:r>
          </a:p>
        </p:txBody>
      </p:sp>
      <p:pic>
        <p:nvPicPr>
          <p:cNvPr id="18" name="Picture 17" descr="CAM_11_Merchandising_A.jpg"/>
          <p:cNvPicPr>
            <a:picLocks noChangeAspect="1"/>
          </p:cNvPicPr>
          <p:nvPr/>
        </p:nvPicPr>
        <p:blipFill>
          <a:blip r:embed="rId6"/>
          <a:srcRect t="6335" b="6335"/>
          <a:stretch>
            <a:fillRect/>
          </a:stretch>
        </p:blipFill>
        <p:spPr>
          <a:xfrm>
            <a:off x="4445000" y="660400"/>
            <a:ext cx="7239000" cy="3556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5000" y="3962400"/>
            <a:ext cx="19050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0" y="39751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Merchandising open office</a:t>
            </a:r>
          </a:p>
        </p:txBody>
      </p:sp>
      <p:pic>
        <p:nvPicPr>
          <p:cNvPr id="21" name="Picture 20" descr="CAM_12_Merchandising_B.jpg"/>
          <p:cNvPicPr>
            <a:picLocks noChangeAspect="1"/>
          </p:cNvPicPr>
          <p:nvPr/>
        </p:nvPicPr>
        <p:blipFill>
          <a:blip r:embed="rId7"/>
          <a:srcRect l="605" r="605"/>
          <a:stretch>
            <a:fillRect/>
          </a:stretch>
        </p:blipFill>
        <p:spPr>
          <a:xfrm>
            <a:off x="4445000" y="4318000"/>
            <a:ext cx="3568700" cy="2032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45000" y="6096000"/>
            <a:ext cx="19685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Merchandising - team table</a:t>
            </a:r>
          </a:p>
        </p:txBody>
      </p:sp>
      <p:pic>
        <p:nvPicPr>
          <p:cNvPr id="24" name="Picture 23" descr="CAM_16_Commercial_Accounts.jpg"/>
          <p:cNvPicPr>
            <a:picLocks noChangeAspect="1"/>
          </p:cNvPicPr>
          <p:nvPr/>
        </p:nvPicPr>
        <p:blipFill>
          <a:blip r:embed="rId8"/>
          <a:srcRect l="605" r="605"/>
          <a:stretch>
            <a:fillRect/>
          </a:stretch>
        </p:blipFill>
        <p:spPr>
          <a:xfrm>
            <a:off x="8115300" y="4318000"/>
            <a:ext cx="3568700" cy="2032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15300" y="6096000"/>
            <a:ext cx="16256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61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Commercial &amp; accounts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368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DESIGN STUDIO &amp; CAD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3683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1E1C"/>
                </a:solidFill>
                <a:latin typeface="Inter"/>
              </a:rPr>
              <a:t>The Global Design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1841500"/>
            <a:ext cx="3683000" cy="31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Zones from the master plan (about 1,400 sft): creative desks, trend wall, collection presentation, technical design, fabric library and storage.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/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Designer desks at the east windows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- 7.4 m mood-board wall for trend research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Buyer presentation table with 86 in screen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CAD room with plotter; fabric &amp; trim library with D65 booth</a:t>
            </a:r>
          </a:p>
          <a:p>
            <a:r>
              <a:rPr sz="1300" b="0">
                <a:solidFill>
                  <a:srgbClr val="5A5750"/>
                </a:solidFill>
                <a:latin typeface="Inter"/>
              </a:rPr>
              <a:t>- 3D printing lab and sample room as office-grade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5016500"/>
            <a:ext cx="368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KEY FINISHES</a:t>
            </a:r>
          </a:p>
        </p:txBody>
      </p:sp>
      <p:pic>
        <p:nvPicPr>
          <p:cNvPr id="6" name="Picture 5" descr="swatch_WD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5245100"/>
            <a:ext cx="79375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99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WD-02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Oak-look plank</a:t>
            </a:r>
          </a:p>
        </p:txBody>
      </p:sp>
      <p:pic>
        <p:nvPicPr>
          <p:cNvPr id="9" name="Picture 8" descr="swatch_UP-0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5245100"/>
            <a:ext cx="793750" cy="66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06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UP-01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06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Green fabric</a:t>
            </a:r>
          </a:p>
        </p:txBody>
      </p:sp>
      <p:pic>
        <p:nvPicPr>
          <p:cNvPr id="12" name="Picture 11" descr="swatch_WO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0" y="5245100"/>
            <a:ext cx="793750" cy="660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1140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WO-02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140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Smoked walnut</a:t>
            </a:r>
          </a:p>
        </p:txBody>
      </p:sp>
      <p:pic>
        <p:nvPicPr>
          <p:cNvPr id="15" name="Picture 14" descr="swatch_PA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50" y="5245100"/>
            <a:ext cx="793750" cy="660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2150" y="5930900"/>
            <a:ext cx="88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6673D"/>
                </a:solidFill>
                <a:latin typeface="Inter"/>
              </a:rPr>
              <a:t>PA-01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150" y="6096000"/>
            <a:ext cx="889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Warm white paint</a:t>
            </a:r>
          </a:p>
        </p:txBody>
      </p:sp>
      <p:pic>
        <p:nvPicPr>
          <p:cNvPr id="18" name="Picture 17" descr="CAM_13_Design_Studio_A.jpg"/>
          <p:cNvPicPr>
            <a:picLocks noChangeAspect="1"/>
          </p:cNvPicPr>
          <p:nvPr/>
        </p:nvPicPr>
        <p:blipFill>
          <a:blip r:embed="rId6"/>
          <a:srcRect t="6335" b="6335"/>
          <a:stretch>
            <a:fillRect/>
          </a:stretch>
        </p:blipFill>
        <p:spPr>
          <a:xfrm>
            <a:off x="4445000" y="660400"/>
            <a:ext cx="7239000" cy="3556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45000" y="3962400"/>
            <a:ext cx="15621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800" y="3975100"/>
            <a:ext cx="7137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Global Design Studio</a:t>
            </a:r>
          </a:p>
        </p:txBody>
      </p:sp>
      <p:pic>
        <p:nvPicPr>
          <p:cNvPr id="21" name="Picture 20" descr="CAM_14_Design_Studio_B.jpg"/>
          <p:cNvPicPr>
            <a:picLocks noChangeAspect="1"/>
          </p:cNvPicPr>
          <p:nvPr/>
        </p:nvPicPr>
        <p:blipFill>
          <a:blip r:embed="rId7"/>
          <a:srcRect l="605" r="605"/>
          <a:stretch>
            <a:fillRect/>
          </a:stretch>
        </p:blipFill>
        <p:spPr>
          <a:xfrm>
            <a:off x="4445000" y="4318000"/>
            <a:ext cx="3568700" cy="2032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45000" y="6096000"/>
            <a:ext cx="29972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58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Design studio - workstations + mood board</a:t>
            </a:r>
          </a:p>
        </p:txBody>
      </p:sp>
      <p:pic>
        <p:nvPicPr>
          <p:cNvPr id="24" name="Picture 23" descr="CAM_15_CAD_Room.jpg"/>
          <p:cNvPicPr>
            <a:picLocks noChangeAspect="1"/>
          </p:cNvPicPr>
          <p:nvPr/>
        </p:nvPicPr>
        <p:blipFill>
          <a:blip r:embed="rId8"/>
          <a:srcRect l="605" r="605"/>
          <a:stretch>
            <a:fillRect/>
          </a:stretch>
        </p:blipFill>
        <p:spPr>
          <a:xfrm>
            <a:off x="8115300" y="4318000"/>
            <a:ext cx="3568700" cy="20320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15300" y="6096000"/>
            <a:ext cx="16954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6100" y="6108700"/>
            <a:ext cx="34671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CAD / technical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952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SUPPORT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1079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1E1C"/>
                </a:solidFill>
                <a:latin typeface="Inter"/>
              </a:rPr>
              <a:t>Care for the people who make the product</a:t>
            </a:r>
          </a:p>
        </p:txBody>
      </p:sp>
      <p:pic>
        <p:nvPicPr>
          <p:cNvPr id="4" name="Picture 3" descr="CAM_20_Staff_Cafe.jpg"/>
          <p:cNvPicPr>
            <a:picLocks noChangeAspect="1"/>
          </p:cNvPicPr>
          <p:nvPr/>
        </p:nvPicPr>
        <p:blipFill>
          <a:blip r:embed="rId2"/>
          <a:srcRect l="2878" r="2878"/>
          <a:stretch>
            <a:fillRect/>
          </a:stretch>
        </p:blipFill>
        <p:spPr>
          <a:xfrm>
            <a:off x="508000" y="1778000"/>
            <a:ext cx="3638550" cy="2171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3695700"/>
            <a:ext cx="14922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3708400"/>
            <a:ext cx="353695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Staff cafe + pantry</a:t>
            </a:r>
          </a:p>
        </p:txBody>
      </p:sp>
      <p:pic>
        <p:nvPicPr>
          <p:cNvPr id="7" name="Picture 6" descr="CAM_21_Lounge_Training.jpg"/>
          <p:cNvPicPr>
            <a:picLocks noChangeAspect="1"/>
          </p:cNvPicPr>
          <p:nvPr/>
        </p:nvPicPr>
        <p:blipFill>
          <a:blip r:embed="rId3"/>
          <a:srcRect l="2878" r="2878"/>
          <a:stretch>
            <a:fillRect/>
          </a:stretch>
        </p:blipFill>
        <p:spPr>
          <a:xfrm>
            <a:off x="4273550" y="1778000"/>
            <a:ext cx="3638550" cy="2171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73550" y="3695700"/>
            <a:ext cx="23812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4350" y="3708400"/>
            <a:ext cx="353695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Lounge / training (multipurpose)</a:t>
            </a:r>
          </a:p>
        </p:txBody>
      </p:sp>
      <p:pic>
        <p:nvPicPr>
          <p:cNvPr id="10" name="Picture 9" descr="CAM_22_Prayer_Male.jpg"/>
          <p:cNvPicPr>
            <a:picLocks noChangeAspect="1"/>
          </p:cNvPicPr>
          <p:nvPr/>
        </p:nvPicPr>
        <p:blipFill>
          <a:blip r:embed="rId4"/>
          <a:srcRect l="2878" r="2878"/>
          <a:stretch>
            <a:fillRect/>
          </a:stretch>
        </p:blipFill>
        <p:spPr>
          <a:xfrm>
            <a:off x="8039100" y="1778000"/>
            <a:ext cx="3638550" cy="2171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39100" y="3695700"/>
            <a:ext cx="14224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9900" y="3708400"/>
            <a:ext cx="353695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Prayer room (male)</a:t>
            </a:r>
          </a:p>
        </p:txBody>
      </p:sp>
      <p:pic>
        <p:nvPicPr>
          <p:cNvPr id="13" name="Picture 12" descr="CAM_23_Sample_Room.jpg"/>
          <p:cNvPicPr>
            <a:picLocks noChangeAspect="1"/>
          </p:cNvPicPr>
          <p:nvPr/>
        </p:nvPicPr>
        <p:blipFill>
          <a:blip r:embed="rId5"/>
          <a:srcRect l="2878" r="2878"/>
          <a:stretch>
            <a:fillRect/>
          </a:stretch>
        </p:blipFill>
        <p:spPr>
          <a:xfrm>
            <a:off x="508000" y="4076700"/>
            <a:ext cx="3638550" cy="21717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8000" y="5994400"/>
            <a:ext cx="14224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6007100"/>
            <a:ext cx="353695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Sample development</a:t>
            </a:r>
          </a:p>
        </p:txBody>
      </p:sp>
      <p:pic>
        <p:nvPicPr>
          <p:cNvPr id="16" name="Picture 15" descr="CAM_25_Fabric_Library.jpg"/>
          <p:cNvPicPr>
            <a:picLocks noChangeAspect="1"/>
          </p:cNvPicPr>
          <p:nvPr/>
        </p:nvPicPr>
        <p:blipFill>
          <a:blip r:embed="rId6"/>
          <a:srcRect l="2878" r="2878"/>
          <a:stretch>
            <a:fillRect/>
          </a:stretch>
        </p:blipFill>
        <p:spPr>
          <a:xfrm>
            <a:off x="4273550" y="4076700"/>
            <a:ext cx="3638550" cy="21717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273550" y="5994400"/>
            <a:ext cx="16256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4350" y="6007100"/>
            <a:ext cx="353695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Fabric &amp; trim library</a:t>
            </a:r>
          </a:p>
        </p:txBody>
      </p:sp>
      <p:pic>
        <p:nvPicPr>
          <p:cNvPr id="19" name="Picture 18" descr="CAM_28_Washroom_Male.jpg"/>
          <p:cNvPicPr>
            <a:picLocks noChangeAspect="1"/>
          </p:cNvPicPr>
          <p:nvPr/>
        </p:nvPicPr>
        <p:blipFill>
          <a:blip r:embed="rId7"/>
          <a:srcRect l="2878" r="2878"/>
          <a:stretch>
            <a:fillRect/>
          </a:stretch>
        </p:blipFill>
        <p:spPr>
          <a:xfrm>
            <a:off x="8039100" y="4076700"/>
            <a:ext cx="3638550" cy="21717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39100" y="5994400"/>
            <a:ext cx="114935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9900" y="6007100"/>
            <a:ext cx="353695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Staff washroom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406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MATERIALS &amp; FINISHES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4064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1E1C"/>
                </a:solidFill>
                <a:latin typeface="Inter"/>
              </a:rPr>
              <a:t>A warm, durable palette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8000" y="1841500"/>
          <a:ext cx="406400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6"/>
                <a:gridCol w="1354666"/>
                <a:gridCol w="1354668"/>
              </a:tblGrid>
              <a:tr h="292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Code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Finish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Where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TZ-01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Terrazzo-look porcelain, warm beige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visitor floors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WD-01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Oak herringbone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boardroom, 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CP-01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Charcoal carpet 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offices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WO-01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White-oak slats on acoustic felt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feature walls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WO-02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Smoked walnut veneer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executive furniture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PA-02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Deep green from the logo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accents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GL-01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12 mm glass, black aluminium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partitions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MT-02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Brushed brass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8000" y="6032500"/>
            <a:ext cx="4064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Specification concepts; final products by sample approval. Full schedule in 04_DOCUMENTATION.</a:t>
            </a:r>
          </a:p>
        </p:txBody>
      </p:sp>
      <p:pic>
        <p:nvPicPr>
          <p:cNvPr id="6" name="Picture 5" descr="material_board.jpg"/>
          <p:cNvPicPr>
            <a:picLocks noChangeAspect="1"/>
          </p:cNvPicPr>
          <p:nvPr/>
        </p:nvPicPr>
        <p:blipFill>
          <a:blip r:embed="rId2"/>
          <a:srcRect t="97" b="97"/>
          <a:stretch>
            <a:fillRect/>
          </a:stretch>
        </p:blipFill>
        <p:spPr>
          <a:xfrm>
            <a:off x="4826000" y="660400"/>
            <a:ext cx="6858000" cy="5689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26000" y="6096000"/>
            <a:ext cx="48514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6800" y="6108700"/>
            <a:ext cx="6756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Material board - the PBR materials of the model, rendered in Blender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D-03_ceiling_lighting_plan.png"/>
          <p:cNvPicPr>
            <a:picLocks noChangeAspect="1"/>
          </p:cNvPicPr>
          <p:nvPr/>
        </p:nvPicPr>
        <p:blipFill>
          <a:blip r:embed="rId2"/>
          <a:srcRect t="36" b="36"/>
          <a:stretch>
            <a:fillRect/>
          </a:stretch>
        </p:blipFill>
        <p:spPr>
          <a:xfrm>
            <a:off x="508000" y="355600"/>
            <a:ext cx="4318000" cy="610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0500" y="609600"/>
            <a:ext cx="6413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LIGHTING &amp;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0500" y="863600"/>
            <a:ext cx="64135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E1C"/>
                </a:solidFill>
                <a:latin typeface="Inter"/>
              </a:rPr>
              <a:t>The beams stay - and do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70500" y="1841500"/>
            <a:ext cx="64135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750"/>
                </a:solidFill>
                <a:latin typeface="Inter"/>
              </a:rPr>
              <a:t>- Existing steel deck and beams kept exposed, painted warm white</a:t>
            </a:r>
          </a:p>
          <a:p>
            <a:r>
              <a:rPr sz="1400" b="0">
                <a:solidFill>
                  <a:srgbClr val="5A5750"/>
                </a:solidFill>
                <a:latin typeface="Inter"/>
              </a:rPr>
              <a:t>- Experience centre: track lights fixed to the beams</a:t>
            </a:r>
          </a:p>
          <a:p>
            <a:r>
              <a:rPr sz="1400" b="0">
                <a:solidFill>
                  <a:srgbClr val="5A5750"/>
                </a:solidFill>
                <a:latin typeface="Inter"/>
              </a:rPr>
              <a:t>- Boardroom: green felt rafts between the beams; merchandising: felt baffles</a:t>
            </a:r>
          </a:p>
          <a:p>
            <a:r>
              <a:rPr sz="1400" b="0">
                <a:solidFill>
                  <a:srgbClr val="5A5750"/>
                </a:solidFill>
                <a:latin typeface="Inter"/>
              </a:rPr>
              <a:t>- Reception and MD office: oak slat rafts below beam level</a:t>
            </a:r>
          </a:p>
          <a:p>
            <a:r>
              <a:rPr sz="1400" b="0">
                <a:solidFill>
                  <a:srgbClr val="5A5750"/>
                </a:solidFill>
                <a:latin typeface="Inter"/>
              </a:rPr>
              <a:t>- 4000 K direct/indirect light over desks; 3000-3500 K in visitor and executive areas</a:t>
            </a:r>
          </a:p>
          <a:p>
            <a:r>
              <a:rPr sz="1400" b="0">
                <a:solidFill>
                  <a:srgbClr val="5A5750"/>
                </a:solidFill>
                <a:latin typeface="Inter"/>
              </a:rPr>
              <a:t>- Accent spots on products and brand walls; halo pendants</a:t>
            </a:r>
          </a:p>
        </p:txBody>
      </p:sp>
      <p:pic>
        <p:nvPicPr>
          <p:cNvPr id="6" name="Picture 5" descr="CAM_09_Boardroom_A.jpg"/>
          <p:cNvPicPr>
            <a:picLocks noChangeAspect="1"/>
          </p:cNvPicPr>
          <p:nvPr/>
        </p:nvPicPr>
        <p:blipFill>
          <a:blip r:embed="rId3"/>
          <a:srcRect t="18317" b="18317"/>
          <a:stretch>
            <a:fillRect/>
          </a:stretch>
        </p:blipFill>
        <p:spPr>
          <a:xfrm>
            <a:off x="5270500" y="4064000"/>
            <a:ext cx="641350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70500" y="6096000"/>
            <a:ext cx="29337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21300" y="6108700"/>
            <a:ext cx="63119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Felt rafts between the beams - boardroom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952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DESIGN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1E1C"/>
                </a:solidFill>
                <a:latin typeface="Inter"/>
              </a:rPr>
              <a:t>What the company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2032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2171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Operational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540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Departments placed by workflow: merchandising beside the experience centre and sample room, HR at the staff entrance, the studio next to CAD, library and samples.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8000" y="2032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0400" y="2171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Professional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70400" y="2540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A visitor sequence that presents the brand, the product and the management in one walk.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0" y="2032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400" y="2171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Employee comfort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400" y="2540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Ergonomic desks, acoustic control, daylight in the studio, cafe, lounge and prayer rooms.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937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076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4445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Bench desks, a multipurpose lounge / training room, glass partitions and about 50 % seat growth.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3937000"/>
            <a:ext cx="3556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0400" y="4076700"/>
            <a:ext cx="32385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6673D"/>
                </a:solidFill>
                <a:latin typeface="Inter"/>
              </a:rPr>
              <a:t>Maintainability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0400" y="44450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750"/>
                </a:solidFill>
                <a:latin typeface="Inter"/>
              </a:rPr>
              <a:t>Hard-wearing terrazzo and porcelain, replaceable carpet tiles, exposed services that stay accessible.</a:t>
            </a:r>
          </a:p>
        </p:txBody>
      </p:sp>
      <p:pic>
        <p:nvPicPr>
          <p:cNvPr id="19" name="Picture 18" descr="CAM_13_Design_Studio_A.jpg"/>
          <p:cNvPicPr>
            <a:picLocks noChangeAspect="1"/>
          </p:cNvPicPr>
          <p:nvPr/>
        </p:nvPicPr>
        <p:blipFill>
          <a:blip r:embed="rId2"/>
          <a:srcRect t="7143" b="7143"/>
          <a:stretch>
            <a:fillRect/>
          </a:stretch>
        </p:blipFill>
        <p:spPr>
          <a:xfrm>
            <a:off x="8128000" y="3937000"/>
            <a:ext cx="3556000" cy="1714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128000" y="5397500"/>
            <a:ext cx="1562100" cy="254000"/>
          </a:xfrm>
          <a:prstGeom prst="rect">
            <a:avLst/>
          </a:prstGeom>
          <a:solidFill>
            <a:srgbClr val="141412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8800" y="5410200"/>
            <a:ext cx="3454400" cy="21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Inter"/>
              </a:rPr>
              <a:t>Global Design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609600"/>
            <a:ext cx="1117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6673D"/>
                </a:solidFill>
                <a:latin typeface="Inter"/>
              </a:rPr>
              <a:t>IMPLEMENTATION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863600"/>
            <a:ext cx="11176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1E1C"/>
                </a:solidFill>
                <a:latin typeface="Inter"/>
              </a:rPr>
              <a:t>To confirm before construction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8000" y="1651000"/>
          <a:ext cx="11176000" cy="204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/>
                <a:gridCol w="9017000"/>
              </a:tblGrid>
              <a:tr h="292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Item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673D"/>
                          </a:solidFill>
                          <a:latin typeface="Inter"/>
                        </a:rPr>
                        <a:t>What has to be confirmed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Site measurements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Floor-to-deck height, room 8 width, column positions and beam layout (currently estimated).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Lintels for the new openings D17, D20, D22 and the lobby-reception glass - structural engineer.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Fire &amp; escape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Ground-floor exits of the NE / SE stairs; without them the walk to the main gate is about 220 ft from the lounge.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MEP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VRF cooling, fresh air for windowless rooms, exhausts (WCs, pantry, 3D lab), power/data, UPS, DB location.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Ramp or lift at the two entrance steps; one accessible WC (door at least 36 in).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673D"/>
                          </a:solidFill>
                          <a:latin typeface="Inter"/>
                        </a:rPr>
                        <a:t>Approvals &amp; branding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1E1C"/>
                          </a:solidFill>
                          <a:latin typeface="Inter"/>
                        </a:rPr>
                        <a:t>Fire / building approvals as applicable; trademark check for 'Global Design Studio'; signage from original vector logos.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8000" y="3873500"/>
            <a:ext cx="1117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No budget or programme was supplied, so none is stated. Details: 04_DOCUMENTATION/technical_coordination_notes.md.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4445000"/>
            <a:ext cx="635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6673D"/>
                </a:solidFill>
                <a:latin typeface="Inter"/>
              </a:rPr>
              <a:t>RECOMMENDED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4699000"/>
            <a:ext cx="2667000" cy="158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4800600"/>
            <a:ext cx="241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6673D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5143500"/>
            <a:ext cx="241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1E1C"/>
                </a:solidFill>
                <a:latin typeface="Inter"/>
              </a:rPr>
              <a:t>Site measurement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5435600"/>
            <a:ext cx="241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Floor-to-deck height, room 8 width, columns and beams; then update the survey data, rebuild and re-verify the model.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3750" y="4699000"/>
            <a:ext cx="2667000" cy="158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3450" y="4800600"/>
            <a:ext cx="241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6673D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3450" y="5143500"/>
            <a:ext cx="241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1E1C"/>
                </a:solidFill>
                <a:latin typeface="Inter"/>
              </a:rPr>
              <a:t>Engineering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3450" y="5435600"/>
            <a:ext cx="241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Structural check of the new openings, fire strategy and exits, HVAC, power and data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9500" y="4699000"/>
            <a:ext cx="2667000" cy="158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9200" y="4800600"/>
            <a:ext cx="241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6673D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9200" y="5143500"/>
            <a:ext cx="241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1E1C"/>
                </a:solidFill>
                <a:latin typeface="Inter"/>
              </a:rPr>
              <a:t>Client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5435600"/>
            <a:ext cx="241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Head count per department, interior budget, experience-centre content and approval of this layout.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85250" y="4699000"/>
            <a:ext cx="2667000" cy="158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4950" y="4800600"/>
            <a:ext cx="2413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6673D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4950" y="5143500"/>
            <a:ext cx="241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E1E1C"/>
                </a:solidFill>
                <a:latin typeface="Inter"/>
              </a:rPr>
              <a:t>Detailed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4950" y="5435600"/>
            <a:ext cx="241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750"/>
                </a:solidFill>
                <a:latin typeface="Inter"/>
              </a:rPr>
              <a:t>Construction drawings, finish samples, furniture selection and bill of quantities after approval.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750"/>
                </a:solidFill>
                <a:latin typeface="Inter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_05_Experience_Centre_B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rgbClr val="142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4064000"/>
            <a:ext cx="952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FD3B0"/>
                </a:solidFill>
                <a:latin typeface="Inter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4381500"/>
            <a:ext cx="101600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Inter"/>
              </a:rPr>
              <a:t>Quality, compliance and commitment - built into the 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55245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9E2DC"/>
                </a:solidFill>
                <a:latin typeface="Inter"/>
              </a:rPr>
              <a:t>A ground floor that welcomes buyers, supports management and gives the design team room to create - ready for detailed design once the open site measurements are confirmed.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248400"/>
            <a:ext cx="596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9D3CC"/>
                </a:solidFill>
                <a:latin typeface="Inter"/>
              </a:rPr>
              <a:t>Experience centre towards the brand-story wall - Blender Cycles 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6578600"/>
            <a:ext cx="825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B3AB"/>
                </a:solidFill>
                <a:latin typeface="Inter"/>
              </a:rPr>
              <a:t>STAGE II KNITTING APPAREL / ZARA FASHION  |  Ground-floor corporate office - interior design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5786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A7B3AB"/>
                </a:solidFill>
                <a:latin typeface="Inter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